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is a programming language where every keyword is Gen Z slang. It is a real language implementation - it has its own lexer, parser and AST - that happens to be completely unserious. There is a live playground you can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joke. The premise is that programming vocabulary is dated, and that Python's error messages are unhelpfully verbose.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few aloud - cook, yap, bet, dip. Then make the important point: only these nineteen words changed. Everything else is Python, which is why real programs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official example from our language spec. Point out cook, bet, nah, spill and dm on the left, and what each became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site here if the wifi allows. FizzBuzz is in the Examples menu and runs in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every judge asks. Say it before they do. The three commands are the answer: each stage of the compiler can be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each with one job. Python is the target we compile to, not what W++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node knows the W++ keyword that created it and the line and column it came from. That is what makes the next slide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error types get their own message. The interesting part is not the joke wording, it is that the line number is right: a runtime failure knows only the generated Python line, and the source map turns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engine is why we can host it at all. Your own browser runs your own code, so there is nothing of ours to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time for one engineering detail, make it this one. We used the old implementation as an oracle for the new one, comparing parsed Python rather than text. It caught a bug where a nah attached to a loop was being claimed by an inner bet, which silently changed what programs meant.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live link. Offer to run anything they want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1783080"/>
            <a:ext cx="6400800" cy="1737360"/>
          </a:xfrm>
          <a:prstGeom prst="rect">
            <a:avLst/>
          </a:prstGeom>
          <a:noFill/>
          <a:ln/>
        </p:spPr>
        <p:txBody>
          <a:bodyPr wrap="square" lIns="0" tIns="0" rIns="0" bIns="0" rtlCol="0" anchor="ctr"/>
          <a:lstStyle/>
          <a:p>
            <a:pPr algn="l" indent="0" marL="0">
              <a:buNone/>
            </a:pPr>
            <a:r>
              <a:rPr lang="en-US" sz="9600" b="1" dirty="0">
                <a:solidFill>
                  <a:srgbClr val="DEE3EA"/>
                </a:solidFill>
                <a:latin typeface="Calibri" pitchFamily="34" charset="0"/>
                <a:ea typeface="Calibri" pitchFamily="34" charset="-122"/>
                <a:cs typeface="Calibri" pitchFamily="34" charset="-120"/>
              </a:rPr>
              <a:t>W++</a:t>
            </a:r>
            <a:endParaRPr lang="en-US" sz="9600" dirty="0"/>
          </a:p>
        </p:txBody>
      </p:sp>
      <p:sp>
        <p:nvSpPr>
          <p:cNvPr id="3" name="Text 1"/>
          <p:cNvSpPr txBox="1"/>
          <p:nvPr/>
        </p:nvSpPr>
        <p:spPr>
          <a:xfrm>
            <a:off x="640080" y="3611880"/>
            <a:ext cx="7315200" cy="914400"/>
          </a:xfrm>
          <a:prstGeom prst="rect">
            <a:avLst/>
          </a:prstGeom>
          <a:noFill/>
          <a:ln/>
        </p:spPr>
        <p:txBody>
          <a:bodyPr wrap="square" lIns="0" tIns="0" rIns="0" bIns="0" rtlCol="0" anchor="ctr"/>
          <a:lstStyle/>
          <a:p>
            <a:pPr algn="l" indent="0" marL="0">
              <a:lnSpc>
                <a:spcPct val="125000"/>
              </a:lnSpc>
              <a:buNone/>
            </a:pPr>
            <a:r>
              <a:rPr lang="en-US" sz="2000" dirty="0">
                <a:solidFill>
                  <a:srgbClr val="8A95A3"/>
                </a:solidFill>
                <a:latin typeface="Calibri" pitchFamily="34" charset="0"/>
                <a:ea typeface="Calibri" pitchFamily="34" charset="-122"/>
                <a:cs typeface="Calibri" pitchFamily="34" charset="-120"/>
              </a:rPr>
              <a:t>A programming language that reads like group chat</a:t>
            </a:r>
            <a:endParaRPr lang="en-US" sz="2000" dirty="0"/>
          </a:p>
          <a:p>
            <a:pPr algn="l" indent="0" marL="0">
              <a:lnSpc>
                <a:spcPct val="125000"/>
              </a:lnSpc>
              <a:buNone/>
            </a:pPr>
            <a:r>
              <a:rPr lang="en-US" sz="2000" dirty="0">
                <a:solidFill>
                  <a:srgbClr val="8A95A3"/>
                </a:solidFill>
                <a:latin typeface="Calibri" pitchFamily="34" charset="0"/>
                <a:ea typeface="Calibri" pitchFamily="34" charset="-122"/>
                <a:cs typeface="Calibri" pitchFamily="34" charset="-120"/>
              </a:rPr>
              <a:t>and runs like Python.</a:t>
            </a:r>
            <a:endParaRPr lang="en-US" sz="2000" dirty="0"/>
          </a:p>
        </p:txBody>
      </p:sp>
      <p:sp>
        <p:nvSpPr>
          <p:cNvPr id="4" name="Text 2"/>
          <p:cNvSpPr txBox="1"/>
          <p:nvPr/>
        </p:nvSpPr>
        <p:spPr>
          <a:xfrm>
            <a:off x="640080" y="4846320"/>
            <a:ext cx="6400800" cy="1005840"/>
          </a:xfrm>
          <a:prstGeom prst="rect">
            <a:avLst/>
          </a:prstGeom>
          <a:noFill/>
          <a:ln/>
        </p:spPr>
        <p:txBody>
          <a:bodyPr wrap="square" lIns="0" tIns="0" rIns="0" bIns="0" rtlCol="0" anchor="ctr"/>
          <a:lstStyle/>
          <a:p>
            <a:pPr algn="l" indent="0" marL="0">
              <a:lnSpc>
                <a:spcPct val="130000"/>
              </a:lnSpc>
              <a:buNone/>
            </a:pPr>
            <a:r>
              <a:rPr lang="en-US" sz="1400" b="1" dirty="0">
                <a:solidFill>
                  <a:srgbClr val="DEE3EA"/>
                </a:solidFill>
                <a:latin typeface="Calibri" pitchFamily="34" charset="0"/>
                <a:ea typeface="Calibri" pitchFamily="34" charset="-122"/>
                <a:cs typeface="Calibri" pitchFamily="34" charset="-120"/>
              </a:rPr>
              <a:t>The Mavericks</a:t>
            </a:r>
            <a:endParaRPr lang="en-US" sz="1400" dirty="0"/>
          </a:p>
          <a:p>
            <a:pPr algn="l" indent="0" marL="0">
              <a:lnSpc>
                <a:spcPct val="130000"/>
              </a:lnSpc>
              <a:buNone/>
            </a:pPr>
            <a:r>
              <a:rPr lang="en-US" sz="1400" dirty="0">
                <a:solidFill>
                  <a:srgbClr val="8A95A3"/>
                </a:solidFill>
                <a:latin typeface="Calibri" pitchFamily="34" charset="0"/>
                <a:ea typeface="Calibri" pitchFamily="34" charset="-122"/>
                <a:cs typeface="Calibri" pitchFamily="34" charset="-120"/>
              </a:rPr>
              <a:t>Harry Noble  ·  Jinoy Fredy</a:t>
            </a:r>
            <a:endParaRPr lang="en-US" sz="1400" dirty="0"/>
          </a:p>
          <a:p>
            <a:pPr algn="l" indent="0" marL="0">
              <a:lnSpc>
                <a:spcPct val="130000"/>
              </a:lnSpc>
              <a:buNone/>
            </a:pPr>
            <a:r>
              <a:rPr lang="en-US" sz="1400" dirty="0">
                <a:solidFill>
                  <a:srgbClr val="626D7B"/>
                </a:solidFill>
                <a:latin typeface="Calibri" pitchFamily="34" charset="0"/>
                <a:ea typeface="Calibri" pitchFamily="34" charset="-122"/>
                <a:cs typeface="Calibri" pitchFamily="34" charset="-120"/>
              </a:rPr>
              <a:t>Muthoot Institute of Technology &amp; Science, Kochi</a:t>
            </a:r>
            <a:endParaRPr lang="en-US" sz="1400" dirty="0"/>
          </a:p>
        </p:txBody>
      </p:sp>
      <p:sp>
        <p:nvSpPr>
          <p:cNvPr id="5" name="Shape 3"/>
          <p:cNvSpPr/>
          <p:nvPr/>
        </p:nvSpPr>
        <p:spPr>
          <a:xfrm>
            <a:off x="7863840" y="2148840"/>
            <a:ext cx="3657600" cy="2011680"/>
          </a:xfrm>
          <a:prstGeom prst="roundRect">
            <a:avLst>
              <a:gd name="adj" fmla="val 2727"/>
            </a:avLst>
          </a:prstGeom>
          <a:solidFill>
            <a:srgbClr val="141920"/>
          </a:solidFill>
          <a:ln w="9525">
            <a:solidFill>
              <a:srgbClr val="2B343F"/>
            </a:solidFill>
            <a:prstDash val="solid"/>
          </a:ln>
        </p:spPr>
      </p:sp>
      <p:sp>
        <p:nvSpPr>
          <p:cNvPr id="6" name="Text 4"/>
          <p:cNvSpPr txBox="1"/>
          <p:nvPr/>
        </p:nvSpPr>
        <p:spPr>
          <a:xfrm>
            <a:off x="8092440" y="2377440"/>
            <a:ext cx="3200400" cy="1554480"/>
          </a:xfrm>
          <a:prstGeom prst="rect">
            <a:avLst/>
          </a:prstGeom>
          <a:noFill/>
          <a:ln/>
        </p:spPr>
        <p:txBody>
          <a:bodyPr wrap="square" lIns="0" tIns="0" rIns="0" bIns="0" rtlCol="0" anchor="t"/>
          <a:lstStyle/>
          <a:p>
            <a:pPr algn="l" indent="0" marL="0">
              <a:lnSpc>
                <a:spcPct val="120000"/>
              </a:lnSpc>
              <a:buNone/>
            </a:pPr>
            <a:r>
              <a:rPr lang="en-US" sz="1300" dirty="0">
                <a:solidFill>
                  <a:srgbClr val="B48EAD"/>
                </a:solidFill>
                <a:latin typeface="Courier New" pitchFamily="34" charset="0"/>
                <a:ea typeface="Courier New" pitchFamily="34" charset="-122"/>
                <a:cs typeface="Courier New" pitchFamily="34" charset="-120"/>
              </a:rPr>
              <a:t>cook</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greet</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name</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20000"/>
              </a:lnSpc>
              <a:buNone/>
            </a:pPr>
            <a:endParaRPr lang="en-US" sz="1300" dirty="0"/>
          </a:p>
          <a:p>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20000"/>
              </a:lnSpc>
              <a:buNone/>
            </a:pPr>
            <a:r>
              <a:rPr lang="en-US" sz="1300" dirty="0">
                <a:solidFill>
                  <a:srgbClr val="B48EAD"/>
                </a:solidFill>
                <a:latin typeface="Courier New" pitchFamily="34" charset="0"/>
                <a:ea typeface="Courier New" pitchFamily="34" charset="-122"/>
                <a:cs typeface="Courier New" pitchFamily="34" charset="-120"/>
              </a:rPr>
              <a:t>yap</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20000"/>
              </a:lnSpc>
              <a:buNone/>
            </a:pPr>
            <a:r>
              <a:rPr lang="en-US" sz="1300" dirty="0">
                <a:solidFill>
                  <a:srgbClr val="97B982"/>
                </a:solidFill>
                <a:latin typeface="Courier New" pitchFamily="34" charset="0"/>
                <a:ea typeface="Courier New" pitchFamily="34" charset="-122"/>
                <a:cs typeface="Courier New" pitchFamily="34" charset="-120"/>
              </a:rPr>
              <a:t>"gm, "</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 + </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name</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20000"/>
              </a:lnSpc>
              <a:buNone/>
            </a:pPr>
            <a:endParaRPr lang="en-US" sz="1300" dirty="0"/>
          </a:p>
          <a:p>
            <a:pPr algn="l" indent="0" marL="0">
              <a:lnSpc>
                <a:spcPct val="120000"/>
              </a:lnSpc>
              <a:buNone/>
            </a:pPr>
            <a:endParaRPr lang="en-US" sz="1300" dirty="0"/>
          </a:p>
          <a:p>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greet</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20000"/>
              </a:lnSpc>
              <a:buNone/>
            </a:pPr>
            <a:r>
              <a:rPr lang="en-US" sz="1300" dirty="0">
                <a:solidFill>
                  <a:srgbClr val="97B982"/>
                </a:solidFill>
                <a:latin typeface="Courier New" pitchFamily="34" charset="0"/>
                <a:ea typeface="Courier New" pitchFamily="34" charset="-122"/>
                <a:cs typeface="Courier New" pitchFamily="34" charset="-120"/>
              </a:rPr>
              <a:t>"world"</a:t>
            </a:r>
            <a:pPr algn="l" indent="0" marL="0">
              <a:lnSpc>
                <a:spcPct val="120000"/>
              </a:lnSpc>
              <a:buNone/>
            </a:pPr>
            <a:r>
              <a:rPr lang="en-US" sz="1300" dirty="0">
                <a:solidFill>
                  <a:srgbClr val="DEE3EA"/>
                </a:solidFill>
                <a:latin typeface="Courier New" pitchFamily="34" charset="0"/>
                <a:ea typeface="Courier New" pitchFamily="34" charset="-122"/>
                <a:cs typeface="Courier New" pitchFamily="34" charset="-120"/>
              </a:rPr>
              <a:t>)</a:t>
            </a:r>
            <a:endParaRPr lang="en-US" sz="1300" dirty="0"/>
          </a:p>
        </p:txBody>
      </p:sp>
      <p:sp>
        <p:nvSpPr>
          <p:cNvPr id="7" name="Text 5"/>
          <p:cNvSpPr txBox="1"/>
          <p:nvPr/>
        </p:nvSpPr>
        <p:spPr>
          <a:xfrm>
            <a:off x="7863840" y="5074920"/>
            <a:ext cx="3657600" cy="365760"/>
          </a:xfrm>
          <a:prstGeom prst="rect">
            <a:avLst/>
          </a:prstGeom>
          <a:noFill/>
          <a:ln/>
        </p:spPr>
        <p:txBody>
          <a:bodyPr wrap="square" lIns="0" tIns="0" rIns="0" bIns="0" rtlCol="0" anchor="ctr"/>
          <a:lstStyle/>
          <a:p>
            <a:pPr algn="l" indent="0" marL="0">
              <a:buNone/>
            </a:pPr>
            <a:r>
              <a:rPr lang="en-US" sz="1300" dirty="0">
                <a:solidFill>
                  <a:srgbClr val="3B82F6"/>
                </a:solidFill>
                <a:latin typeface="Courier New" pitchFamily="34" charset="0"/>
                <a:ea typeface="Courier New" pitchFamily="34" charset="-122"/>
                <a:cs typeface="Courier New" pitchFamily="34" charset="-120"/>
              </a:rPr>
              <a:t>wplusplus.vercel.app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algn="l" indent="0" marL="0">
              <a:buNone/>
            </a:pPr>
            <a:r>
              <a:rPr lang="en-US" sz="3400" b="1" dirty="0">
                <a:solidFill>
                  <a:srgbClr val="DEE3EA"/>
                </a:solidFill>
                <a:latin typeface="Calibri" pitchFamily="34" charset="0"/>
                <a:ea typeface="Calibri" pitchFamily="34" charset="-122"/>
                <a:cs typeface="Calibri" pitchFamily="34" charset="-120"/>
              </a:rPr>
              <a:t>The problem that doesn't exist</a:t>
            </a:r>
            <a:endParaRPr lang="en-US" sz="3400" dirty="0"/>
          </a:p>
        </p:txBody>
      </p:sp>
      <p:sp>
        <p:nvSpPr>
          <p:cNvPr id="3" name="Text 1"/>
          <p:cNvSpPr txBox="1"/>
          <p:nvPr/>
        </p:nvSpPr>
        <p:spPr>
          <a:xfrm>
            <a:off x="640080" y="1554480"/>
            <a:ext cx="6583680" cy="822960"/>
          </a:xfrm>
          <a:prstGeom prst="rect">
            <a:avLst/>
          </a:prstGeom>
          <a:noFill/>
          <a:ln/>
        </p:spPr>
        <p:txBody>
          <a:bodyPr wrap="square" lIns="0" tIns="0" rIns="0" bIns="0" rtlCol="0" anchor="ctr"/>
          <a:lstStyle/>
          <a:p>
            <a:pPr algn="l" indent="0" marL="0">
              <a:lnSpc>
                <a:spcPct val="125000"/>
              </a:lnSpc>
              <a:buNone/>
            </a:pPr>
            <a:r>
              <a:rPr lang="en-US" sz="2000" dirty="0">
                <a:solidFill>
                  <a:srgbClr val="DEE3EA"/>
                </a:solidFill>
                <a:latin typeface="Calibri" pitchFamily="34" charset="0"/>
                <a:ea typeface="Calibri" pitchFamily="34" charset="-122"/>
                <a:cs typeface="Calibri" pitchFamily="34" charset="-120"/>
              </a:rPr>
              <a:t>Programming languages are written in the vocabulary of 1970s computer science.</a:t>
            </a:r>
            <a:endParaRPr lang="en-US" sz="2000" dirty="0"/>
          </a:p>
        </p:txBody>
      </p:sp>
      <p:sp>
        <p:nvSpPr>
          <p:cNvPr id="4" name="Text 2"/>
          <p:cNvSpPr txBox="1"/>
          <p:nvPr/>
        </p:nvSpPr>
        <p:spPr>
          <a:xfrm>
            <a:off x="640080" y="2697480"/>
            <a:ext cx="6583680" cy="914400"/>
          </a:xfrm>
          <a:prstGeom prst="rect">
            <a:avLst/>
          </a:prstGeom>
          <a:noFill/>
          <a:ln/>
        </p:spPr>
        <p:txBody>
          <a:bodyPr wrap="square" lIns="0" tIns="0" rIns="0" bIns="0" rtlCol="0" anchor="ctr"/>
          <a:lstStyle/>
          <a:p>
            <a:pPr algn="l" indent="0" marL="0">
              <a:lnSpc>
                <a:spcPct val="130000"/>
              </a:lnSpc>
              <a:buNone/>
            </a:pPr>
            <a:r>
              <a:rPr lang="en-US" sz="1600" dirty="0">
                <a:solidFill>
                  <a:srgbClr val="8A95A3"/>
                </a:solidFill>
                <a:latin typeface="Calibri" pitchFamily="34" charset="0"/>
                <a:ea typeface="Calibri" pitchFamily="34" charset="-122"/>
                <a:cs typeface="Calibri" pitchFamily="34" charset="-120"/>
              </a:rPr>
              <a:t>Nobody talks like that. An entire generation is asked to write </a:t>
            </a:r>
            <a:pPr algn="l" indent="0" marL="0">
              <a:lnSpc>
                <a:spcPct val="130000"/>
              </a:lnSpc>
              <a:buNone/>
            </a:pPr>
            <a:r>
              <a:rPr lang="en-US" sz="1600" dirty="0">
                <a:solidFill>
                  <a:srgbClr val="B48EAD"/>
                </a:solidFill>
                <a:latin typeface="Courier New" pitchFamily="34" charset="0"/>
                <a:ea typeface="Courier New" pitchFamily="34" charset="-122"/>
                <a:cs typeface="Courier New" pitchFamily="34" charset="-120"/>
              </a:rPr>
              <a:t>return</a:t>
            </a:r>
            <a:pPr algn="l" indent="0" marL="0">
              <a:lnSpc>
                <a:spcPct val="130000"/>
              </a:lnSpc>
              <a:buNone/>
            </a:pPr>
            <a:r>
              <a:rPr lang="en-US" sz="1600" dirty="0">
                <a:solidFill>
                  <a:srgbClr val="8A95A3"/>
                </a:solidFill>
                <a:latin typeface="Calibri" pitchFamily="34" charset="0"/>
                <a:ea typeface="Calibri" pitchFamily="34" charset="-122"/>
                <a:cs typeface="Calibri" pitchFamily="34" charset="-120"/>
              </a:rPr>
              <a:t> when they mean </a:t>
            </a:r>
            <a:pPr algn="l" indent="0" marL="0">
              <a:lnSpc>
                <a:spcPct val="130000"/>
              </a:lnSpc>
              <a:buNone/>
            </a:pPr>
            <a:r>
              <a:rPr lang="en-US" sz="1600" dirty="0">
                <a:solidFill>
                  <a:srgbClr val="B48EAD"/>
                </a:solidFill>
                <a:latin typeface="Courier New" pitchFamily="34" charset="0"/>
                <a:ea typeface="Courier New" pitchFamily="34" charset="-122"/>
                <a:cs typeface="Courier New" pitchFamily="34" charset="-120"/>
              </a:rPr>
              <a:t>spill</a:t>
            </a:r>
            <a:pPr algn="l" indent="0" marL="0">
              <a:lnSpc>
                <a:spcPct val="130000"/>
              </a:lnSpc>
              <a:buNone/>
            </a:pPr>
            <a:r>
              <a:rPr lang="en-US" sz="1600" dirty="0">
                <a:solidFill>
                  <a:srgbClr val="8A95A3"/>
                </a:solidFill>
                <a:latin typeface="Calibri" pitchFamily="34" charset="0"/>
                <a:ea typeface="Calibri" pitchFamily="34" charset="-122"/>
                <a:cs typeface="Calibri" pitchFamily="34" charset="-120"/>
              </a:rPr>
              <a:t>, and to type </a:t>
            </a:r>
            <a:pPr algn="l" indent="0" marL="0">
              <a:lnSpc>
                <a:spcPct val="130000"/>
              </a:lnSpc>
              <a:buNone/>
            </a:pPr>
            <a:r>
              <a:rPr lang="en-US" sz="1600" dirty="0">
                <a:solidFill>
                  <a:srgbClr val="B48EAD"/>
                </a:solidFill>
                <a:latin typeface="Courier New" pitchFamily="34" charset="0"/>
                <a:ea typeface="Courier New" pitchFamily="34" charset="-122"/>
                <a:cs typeface="Courier New" pitchFamily="34" charset="-120"/>
              </a:rPr>
              <a:t>False</a:t>
            </a:r>
            <a:pPr algn="l" indent="0" marL="0">
              <a:lnSpc>
                <a:spcPct val="130000"/>
              </a:lnSpc>
              <a:buNone/>
            </a:pPr>
            <a:r>
              <a:rPr lang="en-US" sz="1600" dirty="0">
                <a:solidFill>
                  <a:srgbClr val="8A95A3"/>
                </a:solidFill>
                <a:latin typeface="Calibri" pitchFamily="34" charset="0"/>
                <a:ea typeface="Calibri" pitchFamily="34" charset="-122"/>
                <a:cs typeface="Calibri" pitchFamily="34" charset="-120"/>
              </a:rPr>
              <a:t> when they clearly mean </a:t>
            </a:r>
            <a:pPr algn="l" indent="0" marL="0">
              <a:lnSpc>
                <a:spcPct val="130000"/>
              </a:lnSpc>
              <a:buNone/>
            </a:pPr>
            <a:r>
              <a:rPr lang="en-US" sz="1600" dirty="0">
                <a:solidFill>
                  <a:srgbClr val="B48EAD"/>
                </a:solidFill>
                <a:latin typeface="Courier New" pitchFamily="34" charset="0"/>
                <a:ea typeface="Courier New" pitchFamily="34" charset="-122"/>
                <a:cs typeface="Courier New" pitchFamily="34" charset="-120"/>
              </a:rPr>
              <a:t>cap</a:t>
            </a:r>
            <a:pPr algn="l" indent="0" marL="0">
              <a:lnSpc>
                <a:spcPct val="130000"/>
              </a:lnSpc>
              <a:buNone/>
            </a:pPr>
            <a:r>
              <a:rPr lang="en-US" sz="1600" dirty="0">
                <a:solidFill>
                  <a:srgbClr val="8A95A3"/>
                </a:solidFill>
                <a:latin typeface="Calibri" pitchFamily="34" charset="0"/>
                <a:ea typeface="Calibri" pitchFamily="34" charset="-122"/>
                <a:cs typeface="Calibri" pitchFamily="34" charset="-120"/>
              </a:rPr>
              <a:t>.</a:t>
            </a:r>
            <a:endParaRPr lang="en-US" sz="1600" dirty="0"/>
          </a:p>
        </p:txBody>
      </p:sp>
      <p:sp>
        <p:nvSpPr>
          <p:cNvPr id="5" name="Text 3"/>
          <p:cNvSpPr txBox="1"/>
          <p:nvPr/>
        </p:nvSpPr>
        <p:spPr>
          <a:xfrm>
            <a:off x="640080" y="3749040"/>
            <a:ext cx="6583680" cy="822960"/>
          </a:xfrm>
          <a:prstGeom prst="rect">
            <a:avLst/>
          </a:prstGeom>
          <a:noFill/>
          <a:ln/>
        </p:spPr>
        <p:txBody>
          <a:bodyPr wrap="square" lIns="0" tIns="0" rIns="0" bIns="0" rtlCol="0" anchor="ctr"/>
          <a:lstStyle/>
          <a:p>
            <a:pPr algn="l" indent="0" marL="0">
              <a:lnSpc>
                <a:spcPct val="130000"/>
              </a:lnSpc>
              <a:buNone/>
            </a:pPr>
            <a:r>
              <a:rPr lang="en-US" sz="1600" dirty="0">
                <a:solidFill>
                  <a:srgbClr val="8A95A3"/>
                </a:solidFill>
                <a:latin typeface="Calibri" pitchFamily="34" charset="0"/>
                <a:ea typeface="Calibri" pitchFamily="34" charset="-122"/>
                <a:cs typeface="Calibri" pitchFamily="34" charset="-120"/>
              </a:rPr>
              <a:t>And when your code breaks, Python hands you a wall of traceback instead of simply telling you it is a skill issue.</a:t>
            </a:r>
            <a:endParaRPr lang="en-US" sz="1600" dirty="0"/>
          </a:p>
        </p:txBody>
      </p:sp>
      <p:sp>
        <p:nvSpPr>
          <p:cNvPr id="6" name="Shape 4"/>
          <p:cNvSpPr/>
          <p:nvPr/>
        </p:nvSpPr>
        <p:spPr>
          <a:xfrm>
            <a:off x="7772400" y="1600200"/>
            <a:ext cx="3749040" cy="3200400"/>
          </a:xfrm>
          <a:prstGeom prst="roundRect">
            <a:avLst>
              <a:gd name="adj" fmla="val 1714"/>
            </a:avLst>
          </a:prstGeom>
          <a:solidFill>
            <a:srgbClr val="141920"/>
          </a:solidFill>
          <a:ln w="9525">
            <a:solidFill>
              <a:srgbClr val="2B343F"/>
            </a:solidFill>
            <a:prstDash val="solid"/>
          </a:ln>
        </p:spPr>
      </p:sp>
      <p:sp>
        <p:nvSpPr>
          <p:cNvPr id="7" name="Text 5"/>
          <p:cNvSpPr txBox="1"/>
          <p:nvPr/>
        </p:nvSpPr>
        <p:spPr>
          <a:xfrm>
            <a:off x="7973568" y="1828800"/>
            <a:ext cx="3383280" cy="2743200"/>
          </a:xfrm>
          <a:prstGeom prst="rect">
            <a:avLst/>
          </a:prstGeom>
          <a:noFill/>
          <a:ln/>
        </p:spPr>
        <p:txBody>
          <a:bodyPr wrap="square" lIns="0" tIns="0" rIns="0" bIns="0" rtlCol="0" anchor="t"/>
          <a:lstStyle/>
          <a:p>
            <a:pPr algn="l" indent="0" marL="0">
              <a:lnSpc>
                <a:spcPct val="125000"/>
              </a:lnSpc>
              <a:buNone/>
            </a:pPr>
            <a:r>
              <a:rPr lang="en-US" sz="1100" dirty="0">
                <a:solidFill>
                  <a:srgbClr val="626D7B"/>
                </a:solidFill>
                <a:latin typeface="Courier New" pitchFamily="34" charset="0"/>
                <a:ea typeface="Courier New" pitchFamily="34" charset="-122"/>
                <a:cs typeface="Courier New" pitchFamily="34" charset="-120"/>
              </a:rPr>
              <a:t>Traceback (most recent call last):</a:t>
            </a:r>
            <a:endParaRPr lang="en-US" sz="1100" dirty="0"/>
          </a:p>
          <a:p>
            <a:pPr algn="l" indent="0" marL="0">
              <a:lnSpc>
                <a:spcPct val="125000"/>
              </a:lnSpc>
              <a:buNone/>
            </a:pPr>
            <a:r>
              <a:rPr lang="en-US" sz="1100" dirty="0">
                <a:solidFill>
                  <a:srgbClr val="626D7B"/>
                </a:solidFill>
                <a:latin typeface="Courier New" pitchFamily="34" charset="0"/>
                <a:ea typeface="Courier New" pitchFamily="34" charset="-122"/>
                <a:cs typeface="Courier New" pitchFamily="34" charset="-120"/>
              </a:rPr>
              <a:t>  File "grades.py", line 12,</a:t>
            </a:r>
            <a:endParaRPr lang="en-US" sz="1100" dirty="0"/>
          </a:p>
          <a:p>
            <a:pPr algn="l" indent="0" marL="0">
              <a:lnSpc>
                <a:spcPct val="125000"/>
              </a:lnSpc>
              <a:buNone/>
            </a:pPr>
            <a:r>
              <a:rPr lang="en-US" sz="1100" dirty="0">
                <a:solidFill>
                  <a:srgbClr val="626D7B"/>
                </a:solidFill>
                <a:latin typeface="Courier New" pitchFamily="34" charset="0"/>
                <a:ea typeface="Courier New" pitchFamily="34" charset="-122"/>
                <a:cs typeface="Courier New" pitchFamily="34" charset="-120"/>
              </a:rPr>
              <a:t>    in average</a:t>
            </a:r>
            <a:endParaRPr lang="en-US" sz="1100" dirty="0"/>
          </a:p>
          <a:p>
            <a:pPr algn="l" indent="0" marL="0">
              <a:lnSpc>
                <a:spcPct val="125000"/>
              </a:lnSpc>
              <a:buNone/>
            </a:pPr>
            <a:r>
              <a:rPr lang="en-US" sz="1100" dirty="0">
                <a:solidFill>
                  <a:srgbClr val="626D7B"/>
                </a:solidFill>
                <a:latin typeface="Courier New" pitchFamily="34" charset="0"/>
                <a:ea typeface="Courier New" pitchFamily="34" charset="-122"/>
                <a:cs typeface="Courier New" pitchFamily="34" charset="-120"/>
              </a:rPr>
              <a:t>    return total / len(marks)</a:t>
            </a:r>
            <a:endParaRPr lang="en-US" sz="1100" dirty="0"/>
          </a:p>
          <a:p>
            <a:pPr algn="l" indent="0" marL="0">
              <a:lnSpc>
                <a:spcPct val="125000"/>
              </a:lnSpc>
              <a:buNone/>
            </a:pPr>
            <a:r>
              <a:rPr lang="en-US" sz="1100" dirty="0">
                <a:solidFill>
                  <a:srgbClr val="626D7B"/>
                </a:solidFill>
                <a:latin typeface="Courier New" pitchFamily="34" charset="0"/>
                <a:ea typeface="Courier New" pitchFamily="34" charset="-122"/>
                <a:cs typeface="Courier New" pitchFamily="34" charset="-120"/>
              </a:rPr>
              <a:t>           ~~~~~~^~~~~~~~~~~~</a:t>
            </a:r>
            <a:endParaRPr lang="en-US" sz="1100" dirty="0"/>
          </a:p>
          <a:p>
            <a:pPr algn="l" indent="0" marL="0">
              <a:lnSpc>
                <a:spcPct val="125000"/>
              </a:lnSpc>
              <a:buNone/>
            </a:pPr>
            <a:r>
              <a:rPr lang="en-US" sz="1100" dirty="0">
                <a:solidFill>
                  <a:srgbClr val="626D7B"/>
                </a:solidFill>
                <a:latin typeface="Courier New" pitchFamily="34" charset="0"/>
                <a:ea typeface="Courier New" pitchFamily="34" charset="-122"/>
                <a:cs typeface="Courier New" pitchFamily="34" charset="-120"/>
              </a:rPr>
              <a:t>ZeroDivisionError: division by</a:t>
            </a:r>
            <a:endParaRPr lang="en-US" sz="1100" dirty="0"/>
          </a:p>
          <a:p>
            <a:pPr algn="l" indent="0" marL="0">
              <a:lnSpc>
                <a:spcPct val="125000"/>
              </a:lnSpc>
              <a:buNone/>
            </a:pPr>
            <a:r>
              <a:rPr lang="en-US" sz="1100" dirty="0">
                <a:solidFill>
                  <a:srgbClr val="626D7B"/>
                </a:solidFill>
                <a:latin typeface="Courier New" pitchFamily="34" charset="0"/>
                <a:ea typeface="Courier New" pitchFamily="34" charset="-122"/>
                <a:cs typeface="Courier New" pitchFamily="34" charset="-120"/>
              </a:rPr>
              <a:t>zero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algn="l" indent="0" marL="0">
              <a:buNone/>
            </a:pPr>
            <a:r>
              <a:rPr lang="en-US" sz="3400" b="1" dirty="0">
                <a:solidFill>
                  <a:srgbClr val="DEE3EA"/>
                </a:solidFill>
                <a:latin typeface="Calibri" pitchFamily="34" charset="0"/>
                <a:ea typeface="Calibri" pitchFamily="34" charset="-122"/>
                <a:cs typeface="Calibri" pitchFamily="34" charset="-120"/>
              </a:rPr>
              <a:t>The solution nobody asked for</a:t>
            </a:r>
            <a:endParaRPr lang="en-US" sz="3400" dirty="0"/>
          </a:p>
        </p:txBody>
      </p:sp>
      <p:sp>
        <p:nvSpPr>
          <p:cNvPr id="3" name="Text 1"/>
          <p:cNvSpPr txBox="1"/>
          <p:nvPr/>
        </p:nvSpPr>
        <p:spPr>
          <a:xfrm>
            <a:off x="640080" y="1078992"/>
            <a:ext cx="10881360" cy="384048"/>
          </a:xfrm>
          <a:prstGeom prst="rect">
            <a:avLst/>
          </a:prstGeom>
          <a:noFill/>
          <a:ln/>
        </p:spPr>
        <p:txBody>
          <a:bodyPr wrap="square" lIns="0" tIns="0" rIns="0" bIns="0" rtlCol="0" anchor="ctr"/>
          <a:lstStyle/>
          <a:p>
            <a:pPr algn="l" indent="0" marL="0">
              <a:buNone/>
            </a:pPr>
            <a:r>
              <a:rPr lang="en-US" sz="1500" dirty="0">
                <a:solidFill>
                  <a:srgbClr val="8A95A3"/>
                </a:solidFill>
                <a:latin typeface="Calibri" pitchFamily="34" charset="0"/>
                <a:ea typeface="Calibri" pitchFamily="34" charset="-122"/>
                <a:cs typeface="Calibri" pitchFamily="34" charset="-120"/>
              </a:rPr>
              <a:t>Nineteen keywords. That is the whole language.</a:t>
            </a:r>
            <a:endParaRPr lang="en-US" sz="1500" dirty="0"/>
          </a:p>
        </p:txBody>
      </p:sp>
      <p:sp>
        <p:nvSpPr>
          <p:cNvPr id="4" name="Shape 2"/>
          <p:cNvSpPr/>
          <p:nvPr/>
        </p:nvSpPr>
        <p:spPr>
          <a:xfrm>
            <a:off x="640080" y="1874520"/>
            <a:ext cx="2073859" cy="713232"/>
          </a:xfrm>
          <a:prstGeom prst="roundRect">
            <a:avLst>
              <a:gd name="adj" fmla="val 7692"/>
            </a:avLst>
          </a:prstGeom>
          <a:solidFill>
            <a:srgbClr val="141920"/>
          </a:solidFill>
          <a:ln w="9525">
            <a:solidFill>
              <a:srgbClr val="2B343F"/>
            </a:solidFill>
            <a:prstDash val="solid"/>
          </a:ln>
        </p:spPr>
      </p:sp>
      <p:sp>
        <p:nvSpPr>
          <p:cNvPr id="5" name="Text 3"/>
          <p:cNvSpPr txBox="1"/>
          <p:nvPr/>
        </p:nvSpPr>
        <p:spPr>
          <a:xfrm>
            <a:off x="786384" y="2029968"/>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cook</a:t>
            </a:r>
            <a:pPr algn="l" indent="0" marL="0">
              <a:buNone/>
            </a:pPr>
            <a:r>
              <a:rPr lang="en-US" sz="1300" dirty="0">
                <a:solidFill>
                  <a:srgbClr val="626D7B"/>
                </a:solidFill>
                <a:latin typeface="Courier New" pitchFamily="34" charset="0"/>
                <a:ea typeface="Courier New" pitchFamily="34" charset="-122"/>
                <a:cs typeface="Courier New" pitchFamily="34" charset="-120"/>
              </a:rPr>
              <a:t>   def</a:t>
            </a:r>
            <a:endParaRPr lang="en-US" sz="1300" dirty="0"/>
          </a:p>
        </p:txBody>
      </p:sp>
      <p:sp>
        <p:nvSpPr>
          <p:cNvPr id="6" name="Shape 4"/>
          <p:cNvSpPr/>
          <p:nvPr/>
        </p:nvSpPr>
        <p:spPr>
          <a:xfrm>
            <a:off x="2841955" y="1874520"/>
            <a:ext cx="2073859" cy="713232"/>
          </a:xfrm>
          <a:prstGeom prst="roundRect">
            <a:avLst>
              <a:gd name="adj" fmla="val 7692"/>
            </a:avLst>
          </a:prstGeom>
          <a:solidFill>
            <a:srgbClr val="141920"/>
          </a:solidFill>
          <a:ln w="9525">
            <a:solidFill>
              <a:srgbClr val="2B343F"/>
            </a:solidFill>
            <a:prstDash val="solid"/>
          </a:ln>
        </p:spPr>
      </p:sp>
      <p:sp>
        <p:nvSpPr>
          <p:cNvPr id="7" name="Text 5"/>
          <p:cNvSpPr txBox="1"/>
          <p:nvPr/>
        </p:nvSpPr>
        <p:spPr>
          <a:xfrm>
            <a:off x="2988259" y="2029968"/>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spill</a:t>
            </a:r>
            <a:pPr algn="l" indent="0" marL="0">
              <a:buNone/>
            </a:pPr>
            <a:r>
              <a:rPr lang="en-US" sz="1300" dirty="0">
                <a:solidFill>
                  <a:srgbClr val="626D7B"/>
                </a:solidFill>
                <a:latin typeface="Courier New" pitchFamily="34" charset="0"/>
                <a:ea typeface="Courier New" pitchFamily="34" charset="-122"/>
                <a:cs typeface="Courier New" pitchFamily="34" charset="-120"/>
              </a:rPr>
              <a:t>   return</a:t>
            </a:r>
            <a:endParaRPr lang="en-US" sz="1300" dirty="0"/>
          </a:p>
        </p:txBody>
      </p:sp>
      <p:sp>
        <p:nvSpPr>
          <p:cNvPr id="8" name="Shape 6"/>
          <p:cNvSpPr/>
          <p:nvPr/>
        </p:nvSpPr>
        <p:spPr>
          <a:xfrm>
            <a:off x="5043830" y="1874520"/>
            <a:ext cx="2073859" cy="713232"/>
          </a:xfrm>
          <a:prstGeom prst="roundRect">
            <a:avLst>
              <a:gd name="adj" fmla="val 7692"/>
            </a:avLst>
          </a:prstGeom>
          <a:solidFill>
            <a:srgbClr val="141920"/>
          </a:solidFill>
          <a:ln w="9525">
            <a:solidFill>
              <a:srgbClr val="2B343F"/>
            </a:solidFill>
            <a:prstDash val="solid"/>
          </a:ln>
        </p:spPr>
      </p:sp>
      <p:sp>
        <p:nvSpPr>
          <p:cNvPr id="9" name="Text 7"/>
          <p:cNvSpPr txBox="1"/>
          <p:nvPr/>
        </p:nvSpPr>
        <p:spPr>
          <a:xfrm>
            <a:off x="5190134" y="2029968"/>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yap</a:t>
            </a:r>
            <a:pPr algn="l" indent="0" marL="0">
              <a:buNone/>
            </a:pPr>
            <a:r>
              <a:rPr lang="en-US" sz="1300" dirty="0">
                <a:solidFill>
                  <a:srgbClr val="626D7B"/>
                </a:solidFill>
                <a:latin typeface="Courier New" pitchFamily="34" charset="0"/>
                <a:ea typeface="Courier New" pitchFamily="34" charset="-122"/>
                <a:cs typeface="Courier New" pitchFamily="34" charset="-120"/>
              </a:rPr>
              <a:t>   print</a:t>
            </a:r>
            <a:endParaRPr lang="en-US" sz="1300" dirty="0"/>
          </a:p>
        </p:txBody>
      </p:sp>
      <p:sp>
        <p:nvSpPr>
          <p:cNvPr id="10" name="Shape 8"/>
          <p:cNvSpPr/>
          <p:nvPr/>
        </p:nvSpPr>
        <p:spPr>
          <a:xfrm>
            <a:off x="7245706" y="1874520"/>
            <a:ext cx="2073859" cy="713232"/>
          </a:xfrm>
          <a:prstGeom prst="roundRect">
            <a:avLst>
              <a:gd name="adj" fmla="val 7692"/>
            </a:avLst>
          </a:prstGeom>
          <a:solidFill>
            <a:srgbClr val="141920"/>
          </a:solidFill>
          <a:ln w="9525">
            <a:solidFill>
              <a:srgbClr val="2B343F"/>
            </a:solidFill>
            <a:prstDash val="solid"/>
          </a:ln>
        </p:spPr>
      </p:sp>
      <p:sp>
        <p:nvSpPr>
          <p:cNvPr id="11" name="Text 9"/>
          <p:cNvSpPr txBox="1"/>
          <p:nvPr/>
        </p:nvSpPr>
        <p:spPr>
          <a:xfrm>
            <a:off x="7392010" y="2029968"/>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dm</a:t>
            </a:r>
            <a:pPr algn="l" indent="0" marL="0">
              <a:buNone/>
            </a:pPr>
            <a:r>
              <a:rPr lang="en-US" sz="1300" dirty="0">
                <a:solidFill>
                  <a:srgbClr val="626D7B"/>
                </a:solidFill>
                <a:latin typeface="Courier New" pitchFamily="34" charset="0"/>
                <a:ea typeface="Courier New" pitchFamily="34" charset="-122"/>
                <a:cs typeface="Courier New" pitchFamily="34" charset="-120"/>
              </a:rPr>
              <a:t>   input</a:t>
            </a:r>
            <a:endParaRPr lang="en-US" sz="1300" dirty="0"/>
          </a:p>
        </p:txBody>
      </p:sp>
      <p:sp>
        <p:nvSpPr>
          <p:cNvPr id="12" name="Shape 10"/>
          <p:cNvSpPr/>
          <p:nvPr/>
        </p:nvSpPr>
        <p:spPr>
          <a:xfrm>
            <a:off x="9447581" y="1874520"/>
            <a:ext cx="2073859" cy="713232"/>
          </a:xfrm>
          <a:prstGeom prst="roundRect">
            <a:avLst>
              <a:gd name="adj" fmla="val 7692"/>
            </a:avLst>
          </a:prstGeom>
          <a:solidFill>
            <a:srgbClr val="141920"/>
          </a:solidFill>
          <a:ln w="9525">
            <a:solidFill>
              <a:srgbClr val="2B343F"/>
            </a:solidFill>
            <a:prstDash val="solid"/>
          </a:ln>
        </p:spPr>
      </p:sp>
      <p:sp>
        <p:nvSpPr>
          <p:cNvPr id="13" name="Text 11"/>
          <p:cNvSpPr txBox="1"/>
          <p:nvPr/>
        </p:nvSpPr>
        <p:spPr>
          <a:xfrm>
            <a:off x="9593885" y="2029968"/>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bodycount</a:t>
            </a:r>
            <a:pPr algn="l" indent="0" marL="0">
              <a:buNone/>
            </a:pPr>
            <a:r>
              <a:rPr lang="en-US" sz="1300" dirty="0">
                <a:solidFill>
                  <a:srgbClr val="626D7B"/>
                </a:solidFill>
                <a:latin typeface="Courier New" pitchFamily="34" charset="0"/>
                <a:ea typeface="Courier New" pitchFamily="34" charset="-122"/>
                <a:cs typeface="Courier New" pitchFamily="34" charset="-120"/>
              </a:rPr>
              <a:t>   len</a:t>
            </a:r>
            <a:endParaRPr lang="en-US" sz="1300" dirty="0"/>
          </a:p>
        </p:txBody>
      </p:sp>
      <p:sp>
        <p:nvSpPr>
          <p:cNvPr id="14" name="Shape 12"/>
          <p:cNvSpPr/>
          <p:nvPr/>
        </p:nvSpPr>
        <p:spPr>
          <a:xfrm>
            <a:off x="640080" y="2734056"/>
            <a:ext cx="2073859" cy="713232"/>
          </a:xfrm>
          <a:prstGeom prst="roundRect">
            <a:avLst>
              <a:gd name="adj" fmla="val 7692"/>
            </a:avLst>
          </a:prstGeom>
          <a:solidFill>
            <a:srgbClr val="141920"/>
          </a:solidFill>
          <a:ln w="9525">
            <a:solidFill>
              <a:srgbClr val="2B343F"/>
            </a:solidFill>
            <a:prstDash val="solid"/>
          </a:ln>
        </p:spPr>
      </p:sp>
      <p:sp>
        <p:nvSpPr>
          <p:cNvPr id="15" name="Text 13"/>
          <p:cNvSpPr txBox="1"/>
          <p:nvPr/>
        </p:nvSpPr>
        <p:spPr>
          <a:xfrm>
            <a:off x="786384" y="2889504"/>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bet</a:t>
            </a:r>
            <a:pPr algn="l" indent="0" marL="0">
              <a:buNone/>
            </a:pPr>
            <a:r>
              <a:rPr lang="en-US" sz="1300" dirty="0">
                <a:solidFill>
                  <a:srgbClr val="626D7B"/>
                </a:solidFill>
                <a:latin typeface="Courier New" pitchFamily="34" charset="0"/>
                <a:ea typeface="Courier New" pitchFamily="34" charset="-122"/>
                <a:cs typeface="Courier New" pitchFamily="34" charset="-120"/>
              </a:rPr>
              <a:t>   if</a:t>
            </a:r>
            <a:endParaRPr lang="en-US" sz="1300" dirty="0"/>
          </a:p>
        </p:txBody>
      </p:sp>
      <p:sp>
        <p:nvSpPr>
          <p:cNvPr id="16" name="Shape 14"/>
          <p:cNvSpPr/>
          <p:nvPr/>
        </p:nvSpPr>
        <p:spPr>
          <a:xfrm>
            <a:off x="2841955" y="2734056"/>
            <a:ext cx="2073859" cy="713232"/>
          </a:xfrm>
          <a:prstGeom prst="roundRect">
            <a:avLst>
              <a:gd name="adj" fmla="val 7692"/>
            </a:avLst>
          </a:prstGeom>
          <a:solidFill>
            <a:srgbClr val="141920"/>
          </a:solidFill>
          <a:ln w="9525">
            <a:solidFill>
              <a:srgbClr val="2B343F"/>
            </a:solidFill>
            <a:prstDash val="solid"/>
          </a:ln>
        </p:spPr>
      </p:sp>
      <p:sp>
        <p:nvSpPr>
          <p:cNvPr id="17" name="Text 15"/>
          <p:cNvSpPr txBox="1"/>
          <p:nvPr/>
        </p:nvSpPr>
        <p:spPr>
          <a:xfrm>
            <a:off x="2988259" y="2889504"/>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plotwist</a:t>
            </a:r>
            <a:pPr algn="l" indent="0" marL="0">
              <a:buNone/>
            </a:pPr>
            <a:r>
              <a:rPr lang="en-US" sz="1300" dirty="0">
                <a:solidFill>
                  <a:srgbClr val="626D7B"/>
                </a:solidFill>
                <a:latin typeface="Courier New" pitchFamily="34" charset="0"/>
                <a:ea typeface="Courier New" pitchFamily="34" charset="-122"/>
                <a:cs typeface="Courier New" pitchFamily="34" charset="-120"/>
              </a:rPr>
              <a:t>   elif</a:t>
            </a:r>
            <a:endParaRPr lang="en-US" sz="1300" dirty="0"/>
          </a:p>
        </p:txBody>
      </p:sp>
      <p:sp>
        <p:nvSpPr>
          <p:cNvPr id="18" name="Shape 16"/>
          <p:cNvSpPr/>
          <p:nvPr/>
        </p:nvSpPr>
        <p:spPr>
          <a:xfrm>
            <a:off x="5043830" y="2734056"/>
            <a:ext cx="2073859" cy="713232"/>
          </a:xfrm>
          <a:prstGeom prst="roundRect">
            <a:avLst>
              <a:gd name="adj" fmla="val 7692"/>
            </a:avLst>
          </a:prstGeom>
          <a:solidFill>
            <a:srgbClr val="141920"/>
          </a:solidFill>
          <a:ln w="9525">
            <a:solidFill>
              <a:srgbClr val="2B343F"/>
            </a:solidFill>
            <a:prstDash val="solid"/>
          </a:ln>
        </p:spPr>
      </p:sp>
      <p:sp>
        <p:nvSpPr>
          <p:cNvPr id="19" name="Text 17"/>
          <p:cNvSpPr txBox="1"/>
          <p:nvPr/>
        </p:nvSpPr>
        <p:spPr>
          <a:xfrm>
            <a:off x="5190134" y="2889504"/>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nah</a:t>
            </a:r>
            <a:pPr algn="l" indent="0" marL="0">
              <a:buNone/>
            </a:pPr>
            <a:r>
              <a:rPr lang="en-US" sz="1300" dirty="0">
                <a:solidFill>
                  <a:srgbClr val="626D7B"/>
                </a:solidFill>
                <a:latin typeface="Courier New" pitchFamily="34" charset="0"/>
                <a:ea typeface="Courier New" pitchFamily="34" charset="-122"/>
                <a:cs typeface="Courier New" pitchFamily="34" charset="-120"/>
              </a:rPr>
              <a:t>   else</a:t>
            </a:r>
            <a:endParaRPr lang="en-US" sz="1300" dirty="0"/>
          </a:p>
        </p:txBody>
      </p:sp>
      <p:sp>
        <p:nvSpPr>
          <p:cNvPr id="20" name="Shape 18"/>
          <p:cNvSpPr/>
          <p:nvPr/>
        </p:nvSpPr>
        <p:spPr>
          <a:xfrm>
            <a:off x="7245706" y="2734056"/>
            <a:ext cx="2073859" cy="713232"/>
          </a:xfrm>
          <a:prstGeom prst="roundRect">
            <a:avLst>
              <a:gd name="adj" fmla="val 7692"/>
            </a:avLst>
          </a:prstGeom>
          <a:solidFill>
            <a:srgbClr val="141920"/>
          </a:solidFill>
          <a:ln w="9525">
            <a:solidFill>
              <a:srgbClr val="2B343F"/>
            </a:solidFill>
            <a:prstDash val="solid"/>
          </a:ln>
        </p:spPr>
      </p:sp>
      <p:sp>
        <p:nvSpPr>
          <p:cNvPr id="21" name="Text 19"/>
          <p:cNvSpPr txBox="1"/>
          <p:nvPr/>
        </p:nvSpPr>
        <p:spPr>
          <a:xfrm>
            <a:off x="7392010" y="2889504"/>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spam</a:t>
            </a:r>
            <a:pPr algn="l" indent="0" marL="0">
              <a:buNone/>
            </a:pPr>
            <a:r>
              <a:rPr lang="en-US" sz="1300" dirty="0">
                <a:solidFill>
                  <a:srgbClr val="626D7B"/>
                </a:solidFill>
                <a:latin typeface="Courier New" pitchFamily="34" charset="0"/>
                <a:ea typeface="Courier New" pitchFamily="34" charset="-122"/>
                <a:cs typeface="Courier New" pitchFamily="34" charset="-120"/>
              </a:rPr>
              <a:t>   for</a:t>
            </a:r>
            <a:endParaRPr lang="en-US" sz="1300" dirty="0"/>
          </a:p>
        </p:txBody>
      </p:sp>
      <p:sp>
        <p:nvSpPr>
          <p:cNvPr id="22" name="Shape 20"/>
          <p:cNvSpPr/>
          <p:nvPr/>
        </p:nvSpPr>
        <p:spPr>
          <a:xfrm>
            <a:off x="9447581" y="2734056"/>
            <a:ext cx="2073859" cy="713232"/>
          </a:xfrm>
          <a:prstGeom prst="roundRect">
            <a:avLst>
              <a:gd name="adj" fmla="val 7692"/>
            </a:avLst>
          </a:prstGeom>
          <a:solidFill>
            <a:srgbClr val="141920"/>
          </a:solidFill>
          <a:ln w="9525">
            <a:solidFill>
              <a:srgbClr val="2B343F"/>
            </a:solidFill>
            <a:prstDash val="solid"/>
          </a:ln>
        </p:spPr>
      </p:sp>
      <p:sp>
        <p:nvSpPr>
          <p:cNvPr id="23" name="Text 21"/>
          <p:cNvSpPr txBox="1"/>
          <p:nvPr/>
        </p:nvSpPr>
        <p:spPr>
          <a:xfrm>
            <a:off x="9593885" y="2889504"/>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grind</a:t>
            </a:r>
            <a:pPr algn="l" indent="0" marL="0">
              <a:buNone/>
            </a:pPr>
            <a:r>
              <a:rPr lang="en-US" sz="1300" dirty="0">
                <a:solidFill>
                  <a:srgbClr val="626D7B"/>
                </a:solidFill>
                <a:latin typeface="Courier New" pitchFamily="34" charset="0"/>
                <a:ea typeface="Courier New" pitchFamily="34" charset="-122"/>
                <a:cs typeface="Courier New" pitchFamily="34" charset="-120"/>
              </a:rPr>
              <a:t>   while</a:t>
            </a:r>
            <a:endParaRPr lang="en-US" sz="1300" dirty="0"/>
          </a:p>
        </p:txBody>
      </p:sp>
      <p:sp>
        <p:nvSpPr>
          <p:cNvPr id="24" name="Shape 22"/>
          <p:cNvSpPr/>
          <p:nvPr/>
        </p:nvSpPr>
        <p:spPr>
          <a:xfrm>
            <a:off x="640080" y="3593592"/>
            <a:ext cx="2073859" cy="713232"/>
          </a:xfrm>
          <a:prstGeom prst="roundRect">
            <a:avLst>
              <a:gd name="adj" fmla="val 7692"/>
            </a:avLst>
          </a:prstGeom>
          <a:solidFill>
            <a:srgbClr val="141920"/>
          </a:solidFill>
          <a:ln w="9525">
            <a:solidFill>
              <a:srgbClr val="2B343F"/>
            </a:solidFill>
            <a:prstDash val="solid"/>
          </a:ln>
        </p:spPr>
      </p:sp>
      <p:sp>
        <p:nvSpPr>
          <p:cNvPr id="25" name="Text 23"/>
          <p:cNvSpPr txBox="1"/>
          <p:nvPr/>
        </p:nvSpPr>
        <p:spPr>
          <a:xfrm>
            <a:off x="786384" y="3749040"/>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dip</a:t>
            </a:r>
            <a:pPr algn="l" indent="0" marL="0">
              <a:buNone/>
            </a:pPr>
            <a:r>
              <a:rPr lang="en-US" sz="1300" dirty="0">
                <a:solidFill>
                  <a:srgbClr val="626D7B"/>
                </a:solidFill>
                <a:latin typeface="Courier New" pitchFamily="34" charset="0"/>
                <a:ea typeface="Courier New" pitchFamily="34" charset="-122"/>
                <a:cs typeface="Courier New" pitchFamily="34" charset="-120"/>
              </a:rPr>
              <a:t>   break</a:t>
            </a:r>
            <a:endParaRPr lang="en-US" sz="1300" dirty="0"/>
          </a:p>
        </p:txBody>
      </p:sp>
      <p:sp>
        <p:nvSpPr>
          <p:cNvPr id="26" name="Shape 24"/>
          <p:cNvSpPr/>
          <p:nvPr/>
        </p:nvSpPr>
        <p:spPr>
          <a:xfrm>
            <a:off x="2841955" y="3593592"/>
            <a:ext cx="2073859" cy="713232"/>
          </a:xfrm>
          <a:prstGeom prst="roundRect">
            <a:avLst>
              <a:gd name="adj" fmla="val 7692"/>
            </a:avLst>
          </a:prstGeom>
          <a:solidFill>
            <a:srgbClr val="141920"/>
          </a:solidFill>
          <a:ln w="9525">
            <a:solidFill>
              <a:srgbClr val="2B343F"/>
            </a:solidFill>
            <a:prstDash val="solid"/>
          </a:ln>
        </p:spPr>
      </p:sp>
      <p:sp>
        <p:nvSpPr>
          <p:cNvPr id="27" name="Text 25"/>
          <p:cNvSpPr txBox="1"/>
          <p:nvPr/>
        </p:nvSpPr>
        <p:spPr>
          <a:xfrm>
            <a:off x="2988259" y="3749040"/>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skrrt</a:t>
            </a:r>
            <a:pPr algn="l" indent="0" marL="0">
              <a:buNone/>
            </a:pPr>
            <a:r>
              <a:rPr lang="en-US" sz="1300" dirty="0">
                <a:solidFill>
                  <a:srgbClr val="626D7B"/>
                </a:solidFill>
                <a:latin typeface="Courier New" pitchFamily="34" charset="0"/>
                <a:ea typeface="Courier New" pitchFamily="34" charset="-122"/>
                <a:cs typeface="Courier New" pitchFamily="34" charset="-120"/>
              </a:rPr>
              <a:t>   continue</a:t>
            </a:r>
            <a:endParaRPr lang="en-US" sz="1300" dirty="0"/>
          </a:p>
        </p:txBody>
      </p:sp>
      <p:sp>
        <p:nvSpPr>
          <p:cNvPr id="28" name="Shape 26"/>
          <p:cNvSpPr/>
          <p:nvPr/>
        </p:nvSpPr>
        <p:spPr>
          <a:xfrm>
            <a:off x="5043830" y="3593592"/>
            <a:ext cx="2073859" cy="713232"/>
          </a:xfrm>
          <a:prstGeom prst="roundRect">
            <a:avLst>
              <a:gd name="adj" fmla="val 7692"/>
            </a:avLst>
          </a:prstGeom>
          <a:solidFill>
            <a:srgbClr val="141920"/>
          </a:solidFill>
          <a:ln w="9525">
            <a:solidFill>
              <a:srgbClr val="2B343F"/>
            </a:solidFill>
            <a:prstDash val="solid"/>
          </a:ln>
        </p:spPr>
      </p:sp>
      <p:sp>
        <p:nvSpPr>
          <p:cNvPr id="29" name="Text 27"/>
          <p:cNvSpPr txBox="1"/>
          <p:nvPr/>
        </p:nvSpPr>
        <p:spPr>
          <a:xfrm>
            <a:off x="5190134" y="3749040"/>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nocap</a:t>
            </a:r>
            <a:pPr algn="l" indent="0" marL="0">
              <a:buNone/>
            </a:pPr>
            <a:r>
              <a:rPr lang="en-US" sz="1300" dirty="0">
                <a:solidFill>
                  <a:srgbClr val="626D7B"/>
                </a:solidFill>
                <a:latin typeface="Courier New" pitchFamily="34" charset="0"/>
                <a:ea typeface="Courier New" pitchFamily="34" charset="-122"/>
                <a:cs typeface="Courier New" pitchFamily="34" charset="-120"/>
              </a:rPr>
              <a:t>   True</a:t>
            </a:r>
            <a:endParaRPr lang="en-US" sz="1300" dirty="0"/>
          </a:p>
        </p:txBody>
      </p:sp>
      <p:sp>
        <p:nvSpPr>
          <p:cNvPr id="30" name="Shape 28"/>
          <p:cNvSpPr/>
          <p:nvPr/>
        </p:nvSpPr>
        <p:spPr>
          <a:xfrm>
            <a:off x="7245706" y="3593592"/>
            <a:ext cx="2073859" cy="713232"/>
          </a:xfrm>
          <a:prstGeom prst="roundRect">
            <a:avLst>
              <a:gd name="adj" fmla="val 7692"/>
            </a:avLst>
          </a:prstGeom>
          <a:solidFill>
            <a:srgbClr val="141920"/>
          </a:solidFill>
          <a:ln w="9525">
            <a:solidFill>
              <a:srgbClr val="2B343F"/>
            </a:solidFill>
            <a:prstDash val="solid"/>
          </a:ln>
        </p:spPr>
      </p:sp>
      <p:sp>
        <p:nvSpPr>
          <p:cNvPr id="31" name="Text 29"/>
          <p:cNvSpPr txBox="1"/>
          <p:nvPr/>
        </p:nvSpPr>
        <p:spPr>
          <a:xfrm>
            <a:off x="7392010" y="3749040"/>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cap</a:t>
            </a:r>
            <a:pPr algn="l" indent="0" marL="0">
              <a:buNone/>
            </a:pPr>
            <a:r>
              <a:rPr lang="en-US" sz="1300" dirty="0">
                <a:solidFill>
                  <a:srgbClr val="626D7B"/>
                </a:solidFill>
                <a:latin typeface="Courier New" pitchFamily="34" charset="0"/>
                <a:ea typeface="Courier New" pitchFamily="34" charset="-122"/>
                <a:cs typeface="Courier New" pitchFamily="34" charset="-120"/>
              </a:rPr>
              <a:t>   False</a:t>
            </a:r>
            <a:endParaRPr lang="en-US" sz="1300" dirty="0"/>
          </a:p>
        </p:txBody>
      </p:sp>
      <p:sp>
        <p:nvSpPr>
          <p:cNvPr id="32" name="Shape 30"/>
          <p:cNvSpPr/>
          <p:nvPr/>
        </p:nvSpPr>
        <p:spPr>
          <a:xfrm>
            <a:off x="9447581" y="3593592"/>
            <a:ext cx="2073859" cy="713232"/>
          </a:xfrm>
          <a:prstGeom prst="roundRect">
            <a:avLst>
              <a:gd name="adj" fmla="val 7692"/>
            </a:avLst>
          </a:prstGeom>
          <a:solidFill>
            <a:srgbClr val="141920"/>
          </a:solidFill>
          <a:ln w="9525">
            <a:solidFill>
              <a:srgbClr val="2B343F"/>
            </a:solidFill>
            <a:prstDash val="solid"/>
          </a:ln>
        </p:spPr>
      </p:sp>
      <p:sp>
        <p:nvSpPr>
          <p:cNvPr id="33" name="Text 31"/>
          <p:cNvSpPr txBox="1"/>
          <p:nvPr/>
        </p:nvSpPr>
        <p:spPr>
          <a:xfrm>
            <a:off x="9593885" y="3749040"/>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npc</a:t>
            </a:r>
            <a:pPr algn="l" indent="0" marL="0">
              <a:buNone/>
            </a:pPr>
            <a:r>
              <a:rPr lang="en-US" sz="1300" dirty="0">
                <a:solidFill>
                  <a:srgbClr val="626D7B"/>
                </a:solidFill>
                <a:latin typeface="Courier New" pitchFamily="34" charset="0"/>
                <a:ea typeface="Courier New" pitchFamily="34" charset="-122"/>
                <a:cs typeface="Courier New" pitchFamily="34" charset="-120"/>
              </a:rPr>
              <a:t>   None</a:t>
            </a:r>
            <a:endParaRPr lang="en-US" sz="1300" dirty="0"/>
          </a:p>
        </p:txBody>
      </p:sp>
      <p:sp>
        <p:nvSpPr>
          <p:cNvPr id="34" name="Shape 32"/>
          <p:cNvSpPr/>
          <p:nvPr/>
        </p:nvSpPr>
        <p:spPr>
          <a:xfrm>
            <a:off x="640080" y="4453128"/>
            <a:ext cx="2073859" cy="713232"/>
          </a:xfrm>
          <a:prstGeom prst="roundRect">
            <a:avLst>
              <a:gd name="adj" fmla="val 7692"/>
            </a:avLst>
          </a:prstGeom>
          <a:solidFill>
            <a:srgbClr val="141920"/>
          </a:solidFill>
          <a:ln w="9525">
            <a:solidFill>
              <a:srgbClr val="2B343F"/>
            </a:solidFill>
            <a:prstDash val="solid"/>
          </a:ln>
        </p:spPr>
      </p:sp>
      <p:sp>
        <p:nvSpPr>
          <p:cNvPr id="35" name="Text 33"/>
          <p:cNvSpPr txBox="1"/>
          <p:nvPr/>
        </p:nvSpPr>
        <p:spPr>
          <a:xfrm>
            <a:off x="786384" y="4608576"/>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squad</a:t>
            </a:r>
            <a:pPr algn="l" indent="0" marL="0">
              <a:buNone/>
            </a:pPr>
            <a:r>
              <a:rPr lang="en-US" sz="1300" dirty="0">
                <a:solidFill>
                  <a:srgbClr val="626D7B"/>
                </a:solidFill>
                <a:latin typeface="Courier New" pitchFamily="34" charset="0"/>
                <a:ea typeface="Courier New" pitchFamily="34" charset="-122"/>
                <a:cs typeface="Courier New" pitchFamily="34" charset="-120"/>
              </a:rPr>
              <a:t>   list</a:t>
            </a:r>
            <a:endParaRPr lang="en-US" sz="1300" dirty="0"/>
          </a:p>
        </p:txBody>
      </p:sp>
      <p:sp>
        <p:nvSpPr>
          <p:cNvPr id="36" name="Shape 34"/>
          <p:cNvSpPr/>
          <p:nvPr/>
        </p:nvSpPr>
        <p:spPr>
          <a:xfrm>
            <a:off x="2841955" y="4453128"/>
            <a:ext cx="2073859" cy="713232"/>
          </a:xfrm>
          <a:prstGeom prst="roundRect">
            <a:avLst>
              <a:gd name="adj" fmla="val 7692"/>
            </a:avLst>
          </a:prstGeom>
          <a:solidFill>
            <a:srgbClr val="141920"/>
          </a:solidFill>
          <a:ln w="9525">
            <a:solidFill>
              <a:srgbClr val="2B343F"/>
            </a:solidFill>
            <a:prstDash val="solid"/>
          </a:ln>
        </p:spPr>
      </p:sp>
      <p:sp>
        <p:nvSpPr>
          <p:cNvPr id="37" name="Text 35"/>
          <p:cNvSpPr txBox="1"/>
          <p:nvPr/>
        </p:nvSpPr>
        <p:spPr>
          <a:xfrm>
            <a:off x="2988259" y="4608576"/>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tea</a:t>
            </a:r>
            <a:pPr algn="l" indent="0" marL="0">
              <a:buNone/>
            </a:pPr>
            <a:r>
              <a:rPr lang="en-US" sz="1300" dirty="0">
                <a:solidFill>
                  <a:srgbClr val="626D7B"/>
                </a:solidFill>
                <a:latin typeface="Courier New" pitchFamily="34" charset="0"/>
                <a:ea typeface="Courier New" pitchFamily="34" charset="-122"/>
                <a:cs typeface="Courier New" pitchFamily="34" charset="-120"/>
              </a:rPr>
              <a:t>   dict</a:t>
            </a:r>
            <a:endParaRPr lang="en-US" sz="1300" dirty="0"/>
          </a:p>
        </p:txBody>
      </p:sp>
      <p:sp>
        <p:nvSpPr>
          <p:cNvPr id="38" name="Shape 36"/>
          <p:cNvSpPr/>
          <p:nvPr/>
        </p:nvSpPr>
        <p:spPr>
          <a:xfrm>
            <a:off x="5043830" y="4453128"/>
            <a:ext cx="2073859" cy="713232"/>
          </a:xfrm>
          <a:prstGeom prst="roundRect">
            <a:avLst>
              <a:gd name="adj" fmla="val 7692"/>
            </a:avLst>
          </a:prstGeom>
          <a:solidFill>
            <a:srgbClr val="141920"/>
          </a:solidFill>
          <a:ln w="9525">
            <a:solidFill>
              <a:srgbClr val="2B343F"/>
            </a:solidFill>
            <a:prstDash val="solid"/>
          </a:ln>
        </p:spPr>
      </p:sp>
      <p:sp>
        <p:nvSpPr>
          <p:cNvPr id="39" name="Text 37"/>
          <p:cNvSpPr txBox="1"/>
          <p:nvPr/>
        </p:nvSpPr>
        <p:spPr>
          <a:xfrm>
            <a:off x="5190134" y="4608576"/>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cult</a:t>
            </a:r>
            <a:pPr algn="l" indent="0" marL="0">
              <a:buNone/>
            </a:pPr>
            <a:r>
              <a:rPr lang="en-US" sz="1300" dirty="0">
                <a:solidFill>
                  <a:srgbClr val="626D7B"/>
                </a:solidFill>
                <a:latin typeface="Courier New" pitchFamily="34" charset="0"/>
                <a:ea typeface="Courier New" pitchFamily="34" charset="-122"/>
                <a:cs typeface="Courier New" pitchFamily="34" charset="-120"/>
              </a:rPr>
              <a:t>   set</a:t>
            </a:r>
            <a:endParaRPr lang="en-US" sz="1300" dirty="0"/>
          </a:p>
        </p:txBody>
      </p:sp>
      <p:sp>
        <p:nvSpPr>
          <p:cNvPr id="40" name="Shape 38"/>
          <p:cNvSpPr/>
          <p:nvPr/>
        </p:nvSpPr>
        <p:spPr>
          <a:xfrm>
            <a:off x="7245706" y="4453128"/>
            <a:ext cx="2073859" cy="713232"/>
          </a:xfrm>
          <a:prstGeom prst="roundRect">
            <a:avLst>
              <a:gd name="adj" fmla="val 7692"/>
            </a:avLst>
          </a:prstGeom>
          <a:solidFill>
            <a:srgbClr val="141920"/>
          </a:solidFill>
          <a:ln w="9525">
            <a:solidFill>
              <a:srgbClr val="2B343F"/>
            </a:solidFill>
            <a:prstDash val="solid"/>
          </a:ln>
        </p:spPr>
      </p:sp>
      <p:sp>
        <p:nvSpPr>
          <p:cNvPr id="41" name="Text 39"/>
          <p:cNvSpPr txBox="1"/>
          <p:nvPr/>
        </p:nvSpPr>
        <p:spPr>
          <a:xfrm>
            <a:off x="7392010" y="4608576"/>
            <a:ext cx="1781251" cy="411480"/>
          </a:xfrm>
          <a:prstGeom prst="rect">
            <a:avLst/>
          </a:prstGeom>
          <a:noFill/>
          <a:ln/>
        </p:spPr>
        <p:txBody>
          <a:bodyPr wrap="square" lIns="0" tIns="0" rIns="0" bIns="0" rtlCol="0" anchor="ctr"/>
          <a:lstStyle/>
          <a:p>
            <a:pPr algn="l" indent="0" marL="0">
              <a:buNone/>
            </a:pPr>
            <a:r>
              <a:rPr lang="en-US" sz="1300" b="1" dirty="0">
                <a:solidFill>
                  <a:srgbClr val="B48EAD"/>
                </a:solidFill>
                <a:latin typeface="Courier New" pitchFamily="34" charset="0"/>
                <a:ea typeface="Courier New" pitchFamily="34" charset="-122"/>
                <a:cs typeface="Courier New" pitchFamily="34" charset="-120"/>
              </a:rPr>
              <a:t>range</a:t>
            </a:r>
            <a:pPr algn="l" indent="0" marL="0">
              <a:buNone/>
            </a:pPr>
            <a:r>
              <a:rPr lang="en-US" sz="1300" dirty="0">
                <a:solidFill>
                  <a:srgbClr val="626D7B"/>
                </a:solidFill>
                <a:latin typeface="Courier New" pitchFamily="34" charset="0"/>
                <a:ea typeface="Courier New" pitchFamily="34" charset="-122"/>
                <a:cs typeface="Courier New" pitchFamily="34" charset="-120"/>
              </a:rPr>
              <a:t>   range</a:t>
            </a:r>
            <a:endParaRPr lang="en-US" sz="1300" dirty="0"/>
          </a:p>
        </p:txBody>
      </p:sp>
      <p:sp>
        <p:nvSpPr>
          <p:cNvPr id="42" name="Text 40"/>
          <p:cNvSpPr txBox="1"/>
          <p:nvPr/>
        </p:nvSpPr>
        <p:spPr>
          <a:xfrm>
            <a:off x="640080" y="5989320"/>
            <a:ext cx="10881360" cy="457200"/>
          </a:xfrm>
          <a:prstGeom prst="rect">
            <a:avLst/>
          </a:prstGeom>
          <a:noFill/>
          <a:ln/>
        </p:spPr>
        <p:txBody>
          <a:bodyPr wrap="square" lIns="0" tIns="0" rIns="0" bIns="0" rtlCol="0" anchor="ctr"/>
          <a:lstStyle/>
          <a:p>
            <a:pPr algn="l" indent="0" marL="0">
              <a:buNone/>
            </a:pPr>
            <a:r>
              <a:rPr lang="en-US" sz="1400" dirty="0">
                <a:solidFill>
                  <a:srgbClr val="8A95A3"/>
                </a:solidFill>
                <a:latin typeface="Calibri" pitchFamily="34" charset="0"/>
                <a:ea typeface="Calibri" pitchFamily="34" charset="-122"/>
                <a:cs typeface="Calibri" pitchFamily="34" charset="-120"/>
              </a:rPr>
              <a:t>Everything else is ordinary Python - classes, generators, f-strings, the whole standard library.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algn="l" indent="0" marL="0">
              <a:buNone/>
            </a:pPr>
            <a:r>
              <a:rPr lang="en-US" sz="3400" b="1" dirty="0">
                <a:solidFill>
                  <a:srgbClr val="DEE3EA"/>
                </a:solidFill>
                <a:latin typeface="Calibri" pitchFamily="34" charset="0"/>
                <a:ea typeface="Calibri" pitchFamily="34" charset="-122"/>
                <a:cs typeface="Calibri" pitchFamily="34" charset="-120"/>
              </a:rPr>
              <a:t>A real program</a:t>
            </a:r>
            <a:endParaRPr lang="en-US" sz="3400" dirty="0"/>
          </a:p>
        </p:txBody>
      </p:sp>
      <p:sp>
        <p:nvSpPr>
          <p:cNvPr id="3" name="Text 1"/>
          <p:cNvSpPr txBox="1"/>
          <p:nvPr/>
        </p:nvSpPr>
        <p:spPr>
          <a:xfrm>
            <a:off x="640080" y="1078992"/>
            <a:ext cx="10881360" cy="384048"/>
          </a:xfrm>
          <a:prstGeom prst="rect">
            <a:avLst/>
          </a:prstGeom>
          <a:noFill/>
          <a:ln/>
        </p:spPr>
        <p:txBody>
          <a:bodyPr wrap="square" lIns="0" tIns="0" rIns="0" bIns="0" rtlCol="0" anchor="ctr"/>
          <a:lstStyle/>
          <a:p>
            <a:pPr algn="l" indent="0" marL="0">
              <a:buNone/>
            </a:pPr>
            <a:r>
              <a:rPr lang="en-US" sz="1500" dirty="0">
                <a:solidFill>
                  <a:srgbClr val="8A95A3"/>
                </a:solidFill>
                <a:latin typeface="Calibri" pitchFamily="34" charset="0"/>
                <a:ea typeface="Calibri" pitchFamily="34" charset="-122"/>
                <a:cs typeface="Calibri" pitchFamily="34" charset="-120"/>
              </a:rPr>
              <a:t>The same thing, before and after the compiler.</a:t>
            </a:r>
            <a:endParaRPr lang="en-US" sz="1500" dirty="0"/>
          </a:p>
        </p:txBody>
      </p:sp>
      <p:sp>
        <p:nvSpPr>
          <p:cNvPr id="4" name="Text 2"/>
          <p:cNvSpPr txBox="1"/>
          <p:nvPr/>
        </p:nvSpPr>
        <p:spPr>
          <a:xfrm>
            <a:off x="640080" y="1783080"/>
            <a:ext cx="5212080" cy="274320"/>
          </a:xfrm>
          <a:prstGeom prst="rect">
            <a:avLst/>
          </a:prstGeom>
          <a:noFill/>
          <a:ln/>
        </p:spPr>
        <p:txBody>
          <a:bodyPr wrap="square" lIns="0" tIns="0" rIns="0" bIns="0" rtlCol="0" anchor="ctr"/>
          <a:lstStyle/>
          <a:p>
            <a:pPr algn="l" indent="0" marL="0">
              <a:buNone/>
            </a:pPr>
            <a:r>
              <a:rPr lang="en-US" sz="1200" b="1" dirty="0">
                <a:solidFill>
                  <a:srgbClr val="3B82F6"/>
                </a:solidFill>
                <a:latin typeface="Courier New" pitchFamily="34" charset="0"/>
                <a:ea typeface="Courier New" pitchFamily="34" charset="-122"/>
                <a:cs typeface="Courier New" pitchFamily="34" charset="-120"/>
              </a:rPr>
              <a:t>W++</a:t>
            </a:r>
            <a:endParaRPr lang="en-US" sz="1200" dirty="0"/>
          </a:p>
        </p:txBody>
      </p:sp>
      <p:sp>
        <p:nvSpPr>
          <p:cNvPr id="5" name="Shape 3"/>
          <p:cNvSpPr/>
          <p:nvPr/>
        </p:nvSpPr>
        <p:spPr>
          <a:xfrm>
            <a:off x="640080" y="2148840"/>
            <a:ext cx="5212080" cy="2834640"/>
          </a:xfrm>
          <a:prstGeom prst="roundRect">
            <a:avLst>
              <a:gd name="adj" fmla="val 1935"/>
            </a:avLst>
          </a:prstGeom>
          <a:solidFill>
            <a:srgbClr val="141920"/>
          </a:solidFill>
          <a:ln w="9525">
            <a:solidFill>
              <a:srgbClr val="2B343F"/>
            </a:solidFill>
            <a:prstDash val="solid"/>
          </a:ln>
        </p:spPr>
      </p:sp>
      <p:sp>
        <p:nvSpPr>
          <p:cNvPr id="6" name="Text 4"/>
          <p:cNvSpPr txBox="1"/>
          <p:nvPr/>
        </p:nvSpPr>
        <p:spPr>
          <a:xfrm>
            <a:off x="841248" y="2313432"/>
            <a:ext cx="4809744" cy="2505456"/>
          </a:xfrm>
          <a:prstGeom prst="rect">
            <a:avLst/>
          </a:prstGeom>
          <a:noFill/>
          <a:ln/>
        </p:spPr>
        <p:txBody>
          <a:bodyPr wrap="square" lIns="0" tIns="0" rIns="0" bIns="0" rtlCol="0" anchor="t"/>
          <a:lstStyle/>
          <a:p>
            <a:pPr algn="l" indent="0" marL="0">
              <a:lnSpc>
                <a:spcPct val="118000"/>
              </a:lnSpc>
              <a:buNone/>
            </a:pPr>
            <a:r>
              <a:rPr lang="en-US" sz="1300" dirty="0">
                <a:solidFill>
                  <a:srgbClr val="B48EAD"/>
                </a:solidFill>
                <a:latin typeface="Courier New" pitchFamily="34" charset="0"/>
                <a:ea typeface="Courier New" pitchFamily="34" charset="-122"/>
                <a:cs typeface="Courier New" pitchFamily="34" charset="-120"/>
              </a:rPr>
              <a:t>cook</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check_vibe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name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endParaRPr lang="en-US" sz="1300" dirty="0"/>
          </a:p>
          <a:p>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B48EAD"/>
                </a:solidFill>
                <a:latin typeface="Courier New" pitchFamily="34" charset="0"/>
                <a:ea typeface="Courier New" pitchFamily="34" charset="-122"/>
                <a:cs typeface="Courier New" pitchFamily="34" charset="-120"/>
              </a:rPr>
              <a:t>bet</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name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 </a:t>
            </a:r>
            <a:pPr algn="l" indent="0" marL="0">
              <a:lnSpc>
                <a:spcPct val="118000"/>
              </a:lnSpc>
              <a:buNone/>
            </a:pPr>
            <a:r>
              <a:rPr lang="en-US" sz="1300" dirty="0">
                <a:solidFill>
                  <a:srgbClr val="97B982"/>
                </a:solidFill>
                <a:latin typeface="Courier New" pitchFamily="34" charset="0"/>
                <a:ea typeface="Courier New" pitchFamily="34" charset="-122"/>
                <a:cs typeface="Courier New" pitchFamily="34" charset="-120"/>
              </a:rPr>
              <a:t>"Claude"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endParaRPr lang="en-US" sz="1300" dirty="0"/>
          </a:p>
          <a:p>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B48EAD"/>
                </a:solidFill>
                <a:latin typeface="Courier New" pitchFamily="34" charset="0"/>
                <a:ea typeface="Courier New" pitchFamily="34" charset="-122"/>
                <a:cs typeface="Courier New" pitchFamily="34" charset="-120"/>
              </a:rPr>
              <a:t>spill</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97B982"/>
                </a:solidFill>
                <a:latin typeface="Courier New" pitchFamily="34" charset="0"/>
                <a:ea typeface="Courier New" pitchFamily="34" charset="-122"/>
                <a:cs typeface="Courier New" pitchFamily="34" charset="-120"/>
              </a:rPr>
              <a:t>"W AI"</a:t>
            </a:r>
            <a:pPr algn="l" indent="0" marL="0">
              <a:lnSpc>
                <a:spcPct val="118000"/>
              </a:lnSpc>
              <a:buNone/>
            </a:pPr>
            <a:endParaRPr lang="en-US" sz="1300" dirty="0"/>
          </a:p>
          <a:p>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B48EAD"/>
                </a:solidFill>
                <a:latin typeface="Courier New" pitchFamily="34" charset="0"/>
                <a:ea typeface="Courier New" pitchFamily="34" charset="-122"/>
                <a:cs typeface="Courier New" pitchFamily="34" charset="-120"/>
              </a:rPr>
              <a:t>nah</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endParaRPr lang="en-US" sz="1300" dirty="0"/>
          </a:p>
          <a:p>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B48EAD"/>
                </a:solidFill>
                <a:latin typeface="Courier New" pitchFamily="34" charset="0"/>
                <a:ea typeface="Courier New" pitchFamily="34" charset="-122"/>
                <a:cs typeface="Courier New" pitchFamily="34" charset="-120"/>
              </a:rPr>
              <a:t>spill</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97B982"/>
                </a:solidFill>
                <a:latin typeface="Courier New" pitchFamily="34" charset="0"/>
                <a:ea typeface="Courier New" pitchFamily="34" charset="-122"/>
                <a:cs typeface="Courier New" pitchFamily="34" charset="-120"/>
              </a:rPr>
              <a:t>"Mid"</a:t>
            </a:r>
            <a:pPr algn="l" indent="0" marL="0">
              <a:lnSpc>
                <a:spcPct val="118000"/>
              </a:lnSpc>
              <a:buNone/>
            </a:pPr>
            <a:endParaRPr lang="en-US" sz="1300" dirty="0"/>
          </a:p>
          <a:p>
            <a:pPr algn="l" indent="0" marL="0">
              <a:lnSpc>
                <a:spcPct val="118000"/>
              </a:lnSpc>
              <a:buNone/>
            </a:pPr>
            <a:endParaRPr lang="en-US" sz="1300" dirty="0"/>
          </a:p>
          <a:p>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username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 </a:t>
            </a:r>
            <a:pPr algn="l" indent="0" marL="0">
              <a:lnSpc>
                <a:spcPct val="118000"/>
              </a:lnSpc>
              <a:buNone/>
            </a:pPr>
            <a:r>
              <a:rPr lang="en-US" sz="1300" dirty="0">
                <a:solidFill>
                  <a:srgbClr val="B48EAD"/>
                </a:solidFill>
                <a:latin typeface="Courier New" pitchFamily="34" charset="0"/>
                <a:ea typeface="Courier New" pitchFamily="34" charset="-122"/>
                <a:cs typeface="Courier New" pitchFamily="34" charset="-120"/>
              </a:rPr>
              <a:t>dm</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r>
              <a:rPr lang="en-US" sz="1300" dirty="0">
                <a:solidFill>
                  <a:srgbClr val="97B982"/>
                </a:solidFill>
                <a:latin typeface="Courier New" pitchFamily="34" charset="0"/>
                <a:ea typeface="Courier New" pitchFamily="34" charset="-122"/>
                <a:cs typeface="Courier New" pitchFamily="34" charset="-120"/>
              </a:rPr>
              <a:t>"Who are you? "</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endParaRPr lang="en-US" sz="1300" dirty="0"/>
          </a:p>
          <a:p>
            <a:pPr algn="l" indent="0" marL="0">
              <a:lnSpc>
                <a:spcPct val="118000"/>
              </a:lnSpc>
              <a:buNone/>
            </a:pPr>
            <a:r>
              <a:rPr lang="en-US" sz="1300" dirty="0">
                <a:solidFill>
                  <a:srgbClr val="B48EAD"/>
                </a:solidFill>
                <a:latin typeface="Courier New" pitchFamily="34" charset="0"/>
                <a:ea typeface="Courier New" pitchFamily="34" charset="-122"/>
                <a:cs typeface="Courier New" pitchFamily="34" charset="-120"/>
              </a:rPr>
              <a:t>yap</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check_vibe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username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endParaRPr lang="en-US" sz="1300" dirty="0"/>
          </a:p>
        </p:txBody>
      </p:sp>
      <p:sp>
        <p:nvSpPr>
          <p:cNvPr id="7" name="Text 5"/>
          <p:cNvSpPr txBox="1"/>
          <p:nvPr/>
        </p:nvSpPr>
        <p:spPr>
          <a:xfrm>
            <a:off x="6309360" y="1783080"/>
            <a:ext cx="5212080" cy="274320"/>
          </a:xfrm>
          <a:prstGeom prst="rect">
            <a:avLst/>
          </a:prstGeom>
          <a:noFill/>
          <a:ln/>
        </p:spPr>
        <p:txBody>
          <a:bodyPr wrap="square" lIns="0" tIns="0" rIns="0" bIns="0" rtlCol="0" anchor="ctr"/>
          <a:lstStyle/>
          <a:p>
            <a:pPr algn="l" indent="0" marL="0">
              <a:buNone/>
            </a:pPr>
            <a:r>
              <a:rPr lang="en-US" sz="1200" b="1" dirty="0">
                <a:solidFill>
                  <a:srgbClr val="626D7B"/>
                </a:solidFill>
                <a:latin typeface="Courier New" pitchFamily="34" charset="0"/>
                <a:ea typeface="Courier New" pitchFamily="34" charset="-122"/>
                <a:cs typeface="Courier New" pitchFamily="34" charset="-120"/>
              </a:rPr>
              <a:t>generated Python</a:t>
            </a:r>
            <a:endParaRPr lang="en-US" sz="1200" dirty="0"/>
          </a:p>
        </p:txBody>
      </p:sp>
      <p:sp>
        <p:nvSpPr>
          <p:cNvPr id="8" name="Shape 6"/>
          <p:cNvSpPr/>
          <p:nvPr/>
        </p:nvSpPr>
        <p:spPr>
          <a:xfrm>
            <a:off x="6309360" y="2148840"/>
            <a:ext cx="5212080" cy="2834640"/>
          </a:xfrm>
          <a:prstGeom prst="roundRect">
            <a:avLst>
              <a:gd name="adj" fmla="val 1935"/>
            </a:avLst>
          </a:prstGeom>
          <a:solidFill>
            <a:srgbClr val="141920"/>
          </a:solidFill>
          <a:ln w="9525">
            <a:solidFill>
              <a:srgbClr val="2B343F"/>
            </a:solidFill>
            <a:prstDash val="solid"/>
          </a:ln>
        </p:spPr>
      </p:sp>
      <p:sp>
        <p:nvSpPr>
          <p:cNvPr id="9" name="Text 7"/>
          <p:cNvSpPr txBox="1"/>
          <p:nvPr/>
        </p:nvSpPr>
        <p:spPr>
          <a:xfrm>
            <a:off x="6510528" y="2313432"/>
            <a:ext cx="4809744" cy="2505456"/>
          </a:xfrm>
          <a:prstGeom prst="rect">
            <a:avLst/>
          </a:prstGeom>
          <a:noFill/>
          <a:ln/>
        </p:spPr>
        <p:txBody>
          <a:bodyPr wrap="square" lIns="0" tIns="0" rIns="0" bIns="0" rtlCol="0" anchor="t"/>
          <a:lstStyle/>
          <a:p>
            <a:pPr algn="l" indent="0" marL="0">
              <a:lnSpc>
                <a:spcPct val="118000"/>
              </a:lnSpc>
              <a:buNone/>
            </a:pPr>
            <a:r>
              <a:rPr lang="en-US" sz="1300" dirty="0">
                <a:solidFill>
                  <a:srgbClr val="8A95A3"/>
                </a:solidFill>
                <a:latin typeface="Courier New" pitchFamily="34" charset="0"/>
                <a:ea typeface="Courier New" pitchFamily="34" charset="-122"/>
                <a:cs typeface="Courier New" pitchFamily="34" charset="-120"/>
              </a:rPr>
              <a:t>def check_vibe(name):</a:t>
            </a:r>
            <a:endParaRPr lang="en-US" sz="1300" dirty="0"/>
          </a:p>
          <a:p>
            <a:pPr algn="l" indent="0" marL="0">
              <a:lnSpc>
                <a:spcPct val="118000"/>
              </a:lnSpc>
              <a:buNone/>
            </a:pPr>
            <a:r>
              <a:rPr lang="en-US" sz="1300" dirty="0">
                <a:solidFill>
                  <a:srgbClr val="8A95A3"/>
                </a:solidFill>
                <a:latin typeface="Courier New" pitchFamily="34" charset="0"/>
                <a:ea typeface="Courier New" pitchFamily="34" charset="-122"/>
                <a:cs typeface="Courier New" pitchFamily="34" charset="-120"/>
              </a:rPr>
              <a:t>    if name == "Claude":</a:t>
            </a:r>
            <a:endParaRPr lang="en-US" sz="1300" dirty="0"/>
          </a:p>
          <a:p>
            <a:pPr algn="l" indent="0" marL="0">
              <a:lnSpc>
                <a:spcPct val="118000"/>
              </a:lnSpc>
              <a:buNone/>
            </a:pPr>
            <a:r>
              <a:rPr lang="en-US" sz="1300" dirty="0">
                <a:solidFill>
                  <a:srgbClr val="8A95A3"/>
                </a:solidFill>
                <a:latin typeface="Courier New" pitchFamily="34" charset="0"/>
                <a:ea typeface="Courier New" pitchFamily="34" charset="-122"/>
                <a:cs typeface="Courier New" pitchFamily="34" charset="-120"/>
              </a:rPr>
              <a:t>        return "W AI"</a:t>
            </a:r>
            <a:endParaRPr lang="en-US" sz="1300" dirty="0"/>
          </a:p>
          <a:p>
            <a:pPr algn="l" indent="0" marL="0">
              <a:lnSpc>
                <a:spcPct val="118000"/>
              </a:lnSpc>
              <a:buNone/>
            </a:pPr>
            <a:r>
              <a:rPr lang="en-US" sz="1300" dirty="0">
                <a:solidFill>
                  <a:srgbClr val="8A95A3"/>
                </a:solidFill>
                <a:latin typeface="Courier New" pitchFamily="34" charset="0"/>
                <a:ea typeface="Courier New" pitchFamily="34" charset="-122"/>
                <a:cs typeface="Courier New" pitchFamily="34" charset="-120"/>
              </a:rPr>
              <a:t>    else:</a:t>
            </a:r>
            <a:endParaRPr lang="en-US" sz="1300" dirty="0"/>
          </a:p>
          <a:p>
            <a:pPr algn="l" indent="0" marL="0">
              <a:lnSpc>
                <a:spcPct val="118000"/>
              </a:lnSpc>
              <a:buNone/>
            </a:pPr>
            <a:r>
              <a:rPr lang="en-US" sz="1300" dirty="0">
                <a:solidFill>
                  <a:srgbClr val="8A95A3"/>
                </a:solidFill>
                <a:latin typeface="Courier New" pitchFamily="34" charset="0"/>
                <a:ea typeface="Courier New" pitchFamily="34" charset="-122"/>
                <a:cs typeface="Courier New" pitchFamily="34" charset="-120"/>
              </a:rPr>
              <a:t>        return "Mid"</a:t>
            </a:r>
            <a:endParaRPr lang="en-US" sz="1300" dirty="0"/>
          </a:p>
          <a:p>
            <a:pPr algn="l" indent="0" marL="0">
              <a:lnSpc>
                <a:spcPct val="118000"/>
              </a:lnSpc>
              <a:buNone/>
            </a:pPr>
            <a:endParaRPr lang="en-US" sz="1300" dirty="0"/>
          </a:p>
          <a:p>
            <a:pPr algn="l" indent="0" marL="0">
              <a:lnSpc>
                <a:spcPct val="118000"/>
              </a:lnSpc>
              <a:buNone/>
            </a:pPr>
            <a:r>
              <a:rPr lang="en-US" sz="1300" dirty="0">
                <a:solidFill>
                  <a:srgbClr val="8A95A3"/>
                </a:solidFill>
                <a:latin typeface="Courier New" pitchFamily="34" charset="0"/>
                <a:ea typeface="Courier New" pitchFamily="34" charset="-122"/>
                <a:cs typeface="Courier New" pitchFamily="34" charset="-120"/>
              </a:rPr>
              <a:t>username = input("Who are you? ")</a:t>
            </a:r>
            <a:endParaRPr lang="en-US" sz="1300" dirty="0"/>
          </a:p>
          <a:p>
            <a:pPr algn="l" indent="0" marL="0">
              <a:lnSpc>
                <a:spcPct val="118000"/>
              </a:lnSpc>
              <a:buNone/>
            </a:pPr>
            <a:r>
              <a:rPr lang="en-US" sz="1300" dirty="0">
                <a:solidFill>
                  <a:srgbClr val="8A95A3"/>
                </a:solidFill>
                <a:latin typeface="Courier New" pitchFamily="34" charset="0"/>
                <a:ea typeface="Courier New" pitchFamily="34" charset="-122"/>
                <a:cs typeface="Courier New" pitchFamily="34" charset="-120"/>
              </a:rPr>
              <a:t>print(check_vibe(username))</a:t>
            </a:r>
            <a:endParaRPr lang="en-US" sz="1300" dirty="0"/>
          </a:p>
        </p:txBody>
      </p:sp>
      <p:sp>
        <p:nvSpPr>
          <p:cNvPr id="10" name="Text 8"/>
          <p:cNvSpPr txBox="1"/>
          <p:nvPr/>
        </p:nvSpPr>
        <p:spPr>
          <a:xfrm>
            <a:off x="640080" y="5257800"/>
            <a:ext cx="10881360" cy="365760"/>
          </a:xfrm>
          <a:prstGeom prst="rect">
            <a:avLst/>
          </a:prstGeom>
          <a:noFill/>
          <a:ln/>
        </p:spPr>
        <p:txBody>
          <a:bodyPr wrap="square" lIns="0" tIns="0" rIns="0" bIns="0" rtlCol="0" anchor="ctr"/>
          <a:lstStyle/>
          <a:p>
            <a:pPr algn="l" indent="0" marL="0">
              <a:buNone/>
            </a:pPr>
            <a:r>
              <a:rPr lang="en-US" sz="1400" dirty="0">
                <a:solidFill>
                  <a:srgbClr val="8A95A3"/>
                </a:solidFill>
                <a:latin typeface="Calibri" pitchFamily="34" charset="0"/>
                <a:ea typeface="Calibri" pitchFamily="34" charset="-122"/>
                <a:cs typeface="Calibri" pitchFamily="34" charset="-120"/>
              </a:rPr>
              <a:t>Python runs the result. W++ has no runtime of its own.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algn="l" indent="0" marL="0">
              <a:buNone/>
            </a:pPr>
            <a:r>
              <a:rPr lang="en-US" sz="3400" b="1" dirty="0">
                <a:solidFill>
                  <a:srgbClr val="DEE3EA"/>
                </a:solidFill>
                <a:latin typeface="Calibri" pitchFamily="34" charset="0"/>
                <a:ea typeface="Calibri" pitchFamily="34" charset="-122"/>
                <a:cs typeface="Calibri" pitchFamily="34" charset="-120"/>
              </a:rPr>
              <a:t>The playground</a:t>
            </a:r>
            <a:endParaRPr lang="en-US" sz="3400" dirty="0"/>
          </a:p>
        </p:txBody>
      </p:sp>
      <p:sp>
        <p:nvSpPr>
          <p:cNvPr id="3" name="Text 1"/>
          <p:cNvSpPr txBox="1"/>
          <p:nvPr/>
        </p:nvSpPr>
        <p:spPr>
          <a:xfrm>
            <a:off x="640080" y="1078992"/>
            <a:ext cx="10881360" cy="384048"/>
          </a:xfrm>
          <a:prstGeom prst="rect">
            <a:avLst/>
          </a:prstGeom>
          <a:noFill/>
          <a:ln/>
        </p:spPr>
        <p:txBody>
          <a:bodyPr wrap="square" lIns="0" tIns="0" rIns="0" bIns="0" rtlCol="0" anchor="ctr"/>
          <a:lstStyle/>
          <a:p>
            <a:pPr algn="l" indent="0" marL="0">
              <a:buNone/>
            </a:pPr>
            <a:r>
              <a:rPr lang="en-US" sz="1500" dirty="0">
                <a:solidFill>
                  <a:srgbClr val="8A95A3"/>
                </a:solidFill>
                <a:latin typeface="Calibri" pitchFamily="34" charset="0"/>
                <a:ea typeface="Calibri" pitchFamily="34" charset="-122"/>
                <a:cs typeface="Calibri" pitchFamily="34" charset="-120"/>
              </a:rPr>
              <a:t>Write W++, press Run. In the browser, no install.</a:t>
            </a:r>
            <a:endParaRPr lang="en-US" sz="1500" dirty="0"/>
          </a:p>
        </p:txBody>
      </p:sp>
      <p:pic>
        <p:nvPicPr>
          <p:cNvPr id="4" name="Image 0" descr="C:\Users\noble\Documents\wplusplus\docs\images\screenshot1-fizzbuzz.png">    </p:cNvPr>
          <p:cNvPicPr>
            <a:picLocks noChangeAspect="1"/>
          </p:cNvPicPr>
          <p:nvPr/>
        </p:nvPicPr>
        <p:blipFill>
          <a:blip r:embed="rId1"/>
          <a:stretch>
            <a:fillRect/>
          </a:stretch>
        </p:blipFill>
        <p:spPr>
          <a:xfrm>
            <a:off x="640080" y="1783080"/>
            <a:ext cx="10881360" cy="3655457"/>
          </a:xfrm>
          <a:prstGeom prst="rect">
            <a:avLst/>
          </a:prstGeom>
        </p:spPr>
      </p:pic>
      <p:sp>
        <p:nvSpPr>
          <p:cNvPr id="5" name="Text 2"/>
          <p:cNvSpPr txBox="1"/>
          <p:nvPr/>
        </p:nvSpPr>
        <p:spPr>
          <a:xfrm>
            <a:off x="640080" y="5806440"/>
            <a:ext cx="5486400" cy="365760"/>
          </a:xfrm>
          <a:prstGeom prst="rect">
            <a:avLst/>
          </a:prstGeom>
          <a:noFill/>
          <a:ln/>
        </p:spPr>
        <p:txBody>
          <a:bodyPr wrap="square" lIns="0" tIns="0" rIns="0" bIns="0" rtlCol="0" anchor="ctr"/>
          <a:lstStyle/>
          <a:p>
            <a:pPr algn="l" indent="0" marL="0">
              <a:buNone/>
            </a:pPr>
            <a:r>
              <a:rPr lang="en-US" sz="1400" dirty="0">
                <a:solidFill>
                  <a:srgbClr val="3B82F6"/>
                </a:solidFill>
                <a:latin typeface="Courier New" pitchFamily="34" charset="0"/>
                <a:ea typeface="Courier New" pitchFamily="34" charset="-122"/>
                <a:cs typeface="Courier New" pitchFamily="34" charset="-120"/>
              </a:rPr>
              <a:t>wplusplus.vercel.app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2057400"/>
            <a:ext cx="10881360" cy="914400"/>
          </a:xfrm>
          <a:prstGeom prst="rect">
            <a:avLst/>
          </a:prstGeom>
          <a:noFill/>
          <a:ln/>
        </p:spPr>
        <p:txBody>
          <a:bodyPr wrap="square" lIns="0" tIns="0" rIns="0" bIns="0" rtlCol="0" anchor="ctr"/>
          <a:lstStyle/>
          <a:p>
            <a:pPr algn="l" indent="0" marL="0">
              <a:buNone/>
            </a:pPr>
            <a:r>
              <a:rPr lang="en-US" sz="4000" b="1" dirty="0">
                <a:solidFill>
                  <a:srgbClr val="DEE3EA"/>
                </a:solidFill>
                <a:latin typeface="Calibri" pitchFamily="34" charset="0"/>
                <a:ea typeface="Calibri" pitchFamily="34" charset="-122"/>
                <a:cs typeface="Calibri" pitchFamily="34" charset="-120"/>
              </a:rPr>
              <a:t>“Isn't this just find-and-replace?”</a:t>
            </a:r>
            <a:endParaRPr lang="en-US" sz="4000" dirty="0"/>
          </a:p>
        </p:txBody>
      </p:sp>
      <p:sp>
        <p:nvSpPr>
          <p:cNvPr id="3" name="Text 1"/>
          <p:cNvSpPr txBox="1"/>
          <p:nvPr/>
        </p:nvSpPr>
        <p:spPr>
          <a:xfrm>
            <a:off x="640080" y="3108960"/>
            <a:ext cx="10881360" cy="457200"/>
          </a:xfrm>
          <a:prstGeom prst="rect">
            <a:avLst/>
          </a:prstGeom>
          <a:noFill/>
          <a:ln/>
        </p:spPr>
        <p:txBody>
          <a:bodyPr wrap="square" lIns="0" tIns="0" rIns="0" bIns="0" rtlCol="0" anchor="ctr"/>
          <a:lstStyle/>
          <a:p>
            <a:pPr algn="l" indent="0" marL="0">
              <a:buNone/>
            </a:pPr>
            <a:r>
              <a:rPr lang="en-US" sz="2000" dirty="0">
                <a:solidFill>
                  <a:srgbClr val="3B82F6"/>
                </a:solidFill>
                <a:latin typeface="Calibri" pitchFamily="34" charset="0"/>
                <a:ea typeface="Calibri" pitchFamily="34" charset="-122"/>
                <a:cs typeface="Calibri" pitchFamily="34" charset="-120"/>
              </a:rPr>
              <a:t>No. And here is how you can check.</a:t>
            </a:r>
            <a:endParaRPr lang="en-US" sz="2000" dirty="0"/>
          </a:p>
        </p:txBody>
      </p:sp>
      <p:sp>
        <p:nvSpPr>
          <p:cNvPr id="4" name="Text 2"/>
          <p:cNvSpPr txBox="1"/>
          <p:nvPr/>
        </p:nvSpPr>
        <p:spPr>
          <a:xfrm>
            <a:off x="640080" y="3886200"/>
            <a:ext cx="10881360" cy="411480"/>
          </a:xfrm>
          <a:prstGeom prst="rect">
            <a:avLst/>
          </a:prstGeom>
          <a:noFill/>
          <a:ln/>
        </p:spPr>
        <p:txBody>
          <a:bodyPr wrap="square" lIns="0" tIns="0" rIns="0" bIns="0" rtlCol="0" anchor="ctr"/>
          <a:lstStyle/>
          <a:p>
            <a:pPr algn="l" indent="0" marL="0">
              <a:buNone/>
            </a:pPr>
            <a:r>
              <a:rPr lang="en-US" sz="1500" b="1" dirty="0">
                <a:solidFill>
                  <a:srgbClr val="DEE3EA"/>
                </a:solidFill>
                <a:latin typeface="Courier New" pitchFamily="34" charset="0"/>
                <a:ea typeface="Courier New" pitchFamily="34" charset="-122"/>
                <a:cs typeface="Courier New" pitchFamily="34" charset="-120"/>
              </a:rPr>
              <a:t>python wpp.py --tokens</a:t>
            </a:r>
            <a:pPr algn="l" indent="0" marL="0">
              <a:buNone/>
            </a:pPr>
            <a:r>
              <a:rPr lang="en-US" sz="1500" dirty="0">
                <a:solidFill>
                  <a:srgbClr val="8A95A3"/>
                </a:solidFill>
                <a:latin typeface="Calibri" pitchFamily="34" charset="0"/>
                <a:ea typeface="Calibri" pitchFamily="34" charset="-122"/>
                <a:cs typeface="Calibri" pitchFamily="34" charset="-120"/>
              </a:rPr>
              <a:t>    what the lexer saw</a:t>
            </a:r>
            <a:endParaRPr lang="en-US" sz="1500" dirty="0"/>
          </a:p>
        </p:txBody>
      </p:sp>
      <p:sp>
        <p:nvSpPr>
          <p:cNvPr id="5" name="Text 3"/>
          <p:cNvSpPr txBox="1"/>
          <p:nvPr/>
        </p:nvSpPr>
        <p:spPr>
          <a:xfrm>
            <a:off x="640080" y="4544568"/>
            <a:ext cx="10881360" cy="411480"/>
          </a:xfrm>
          <a:prstGeom prst="rect">
            <a:avLst/>
          </a:prstGeom>
          <a:noFill/>
          <a:ln/>
        </p:spPr>
        <p:txBody>
          <a:bodyPr wrap="square" lIns="0" tIns="0" rIns="0" bIns="0" rtlCol="0" anchor="ctr"/>
          <a:lstStyle/>
          <a:p>
            <a:pPr algn="l" indent="0" marL="0">
              <a:buNone/>
            </a:pPr>
            <a:r>
              <a:rPr lang="en-US" sz="1500" b="1" dirty="0">
                <a:solidFill>
                  <a:srgbClr val="DEE3EA"/>
                </a:solidFill>
                <a:latin typeface="Courier New" pitchFamily="34" charset="0"/>
                <a:ea typeface="Courier New" pitchFamily="34" charset="-122"/>
                <a:cs typeface="Courier New" pitchFamily="34" charset="-120"/>
              </a:rPr>
              <a:t>python wpp.py --ast</a:t>
            </a:r>
            <a:pPr algn="l" indent="0" marL="0">
              <a:buNone/>
            </a:pPr>
            <a:r>
              <a:rPr lang="en-US" sz="1500" dirty="0">
                <a:solidFill>
                  <a:srgbClr val="8A95A3"/>
                </a:solidFill>
                <a:latin typeface="Calibri" pitchFamily="34" charset="0"/>
                <a:ea typeface="Calibri" pitchFamily="34" charset="-122"/>
                <a:cs typeface="Calibri" pitchFamily="34" charset="-120"/>
              </a:rPr>
              <a:t>    the syntax tree the parser built</a:t>
            </a:r>
            <a:endParaRPr lang="en-US" sz="1500" dirty="0"/>
          </a:p>
        </p:txBody>
      </p:sp>
      <p:sp>
        <p:nvSpPr>
          <p:cNvPr id="6" name="Text 4"/>
          <p:cNvSpPr txBox="1"/>
          <p:nvPr/>
        </p:nvSpPr>
        <p:spPr>
          <a:xfrm>
            <a:off x="640080" y="5202936"/>
            <a:ext cx="10881360" cy="411480"/>
          </a:xfrm>
          <a:prstGeom prst="rect">
            <a:avLst/>
          </a:prstGeom>
          <a:noFill/>
          <a:ln/>
        </p:spPr>
        <p:txBody>
          <a:bodyPr wrap="square" lIns="0" tIns="0" rIns="0" bIns="0" rtlCol="0" anchor="ctr"/>
          <a:lstStyle/>
          <a:p>
            <a:pPr algn="l" indent="0" marL="0">
              <a:buNone/>
            </a:pPr>
            <a:r>
              <a:rPr lang="en-US" sz="1500" b="1" dirty="0">
                <a:solidFill>
                  <a:srgbClr val="DEE3EA"/>
                </a:solidFill>
                <a:latin typeface="Courier New" pitchFamily="34" charset="0"/>
                <a:ea typeface="Courier New" pitchFamily="34" charset="-122"/>
                <a:cs typeface="Courier New" pitchFamily="34" charset="-120"/>
              </a:rPr>
              <a:t>python wpp.py --emit</a:t>
            </a:r>
            <a:pPr algn="l" indent="0" marL="0">
              <a:buNone/>
            </a:pPr>
            <a:r>
              <a:rPr lang="en-US" sz="1500" dirty="0">
                <a:solidFill>
                  <a:srgbClr val="8A95A3"/>
                </a:solidFill>
                <a:latin typeface="Calibri" pitchFamily="34" charset="0"/>
                <a:ea typeface="Calibri" pitchFamily="34" charset="-122"/>
                <a:cs typeface="Calibri" pitchFamily="34" charset="-120"/>
              </a:rPr>
              <a:t>    the Python the backend generated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algn="l" indent="0" marL="0">
              <a:buNone/>
            </a:pPr>
            <a:r>
              <a:rPr lang="en-US" sz="3400" b="1" dirty="0">
                <a:solidFill>
                  <a:srgbClr val="DEE3EA"/>
                </a:solidFill>
                <a:latin typeface="Calibri" pitchFamily="34" charset="0"/>
                <a:ea typeface="Calibri" pitchFamily="34" charset="-122"/>
                <a:cs typeface="Calibri" pitchFamily="34" charset="-120"/>
              </a:rPr>
              <a:t>How it actually works</a:t>
            </a:r>
            <a:endParaRPr lang="en-US" sz="3400" dirty="0"/>
          </a:p>
        </p:txBody>
      </p:sp>
      <p:pic>
        <p:nvPicPr>
          <p:cNvPr id="3" name="Image 0" descr="C:\Users\noble\Documents\wplusplus\docs\images\architecture.png">    </p:cNvPr>
          <p:cNvPicPr>
            <a:picLocks noChangeAspect="1"/>
          </p:cNvPicPr>
          <p:nvPr/>
        </p:nvPicPr>
        <p:blipFill>
          <a:blip r:embed="rId1"/>
          <a:stretch>
            <a:fillRect/>
          </a:stretch>
        </p:blipFill>
        <p:spPr>
          <a:xfrm>
            <a:off x="640080" y="1417320"/>
            <a:ext cx="5577840" cy="4933290"/>
          </a:xfrm>
          <a:prstGeom prst="rect">
            <a:avLst/>
          </a:prstGeom>
        </p:spPr>
      </p:pic>
      <p:sp>
        <p:nvSpPr>
          <p:cNvPr id="4" name="Text 1"/>
          <p:cNvSpPr txBox="1"/>
          <p:nvPr/>
        </p:nvSpPr>
        <p:spPr>
          <a:xfrm>
            <a:off x="6675120" y="1600200"/>
            <a:ext cx="4846320" cy="310896"/>
          </a:xfrm>
          <a:prstGeom prst="rect">
            <a:avLst/>
          </a:prstGeom>
          <a:noFill/>
          <a:ln/>
        </p:spPr>
        <p:txBody>
          <a:bodyPr wrap="square" lIns="0" tIns="0" rIns="0" bIns="0" rtlCol="0" anchor="ctr"/>
          <a:lstStyle/>
          <a:p>
            <a:pPr algn="l" indent="0" marL="0">
              <a:buNone/>
            </a:pPr>
            <a:r>
              <a:rPr lang="en-US" sz="1600" b="1" dirty="0">
                <a:solidFill>
                  <a:srgbClr val="3B82F6"/>
                </a:solidFill>
                <a:latin typeface="Calibri" pitchFamily="34" charset="0"/>
                <a:ea typeface="Calibri" pitchFamily="34" charset="-122"/>
                <a:cs typeface="Calibri" pitchFamily="34" charset="-120"/>
              </a:rPr>
              <a:t>Lexer</a:t>
            </a:r>
            <a:endParaRPr lang="en-US" sz="1600" dirty="0"/>
          </a:p>
        </p:txBody>
      </p:sp>
      <p:sp>
        <p:nvSpPr>
          <p:cNvPr id="5" name="Text 2"/>
          <p:cNvSpPr txBox="1"/>
          <p:nvPr/>
        </p:nvSpPr>
        <p:spPr>
          <a:xfrm>
            <a:off x="6675120" y="1911096"/>
            <a:ext cx="4846320" cy="786384"/>
          </a:xfrm>
          <a:prstGeom prst="rect">
            <a:avLst/>
          </a:prstGeom>
          <a:noFill/>
          <a:ln/>
        </p:spPr>
        <p:txBody>
          <a:bodyPr wrap="square" lIns="0" tIns="0" rIns="0" bIns="0" rtlCol="0" anchor="t"/>
          <a:lstStyle/>
          <a:p>
            <a:pPr algn="l" indent="0" marL="0">
              <a:lnSpc>
                <a:spcPct val="118000"/>
              </a:lnSpc>
              <a:buNone/>
            </a:pPr>
            <a:r>
              <a:rPr lang="en-US" sz="1250" dirty="0">
                <a:solidFill>
                  <a:srgbClr val="8A95A3"/>
                </a:solidFill>
                <a:latin typeface="Calibri" pitchFamily="34" charset="0"/>
                <a:ea typeface="Calibri" pitchFamily="34" charset="-122"/>
                <a:cs typeface="Calibri" pitchFamily="34" charset="-120"/>
              </a:rPr>
              <a:t>W++ tokens, each with a line and column. A keyword inside a string is never a keyword, because the scanner returns the whole literal as one token.</a:t>
            </a:r>
            <a:endParaRPr lang="en-US" sz="1250" dirty="0"/>
          </a:p>
        </p:txBody>
      </p:sp>
      <p:sp>
        <p:nvSpPr>
          <p:cNvPr id="6" name="Text 3"/>
          <p:cNvSpPr txBox="1"/>
          <p:nvPr/>
        </p:nvSpPr>
        <p:spPr>
          <a:xfrm>
            <a:off x="6675120" y="2770632"/>
            <a:ext cx="4846320" cy="310896"/>
          </a:xfrm>
          <a:prstGeom prst="rect">
            <a:avLst/>
          </a:prstGeom>
          <a:noFill/>
          <a:ln/>
        </p:spPr>
        <p:txBody>
          <a:bodyPr wrap="square" lIns="0" tIns="0" rIns="0" bIns="0" rtlCol="0" anchor="ctr"/>
          <a:lstStyle/>
          <a:p>
            <a:pPr algn="l" indent="0" marL="0">
              <a:buNone/>
            </a:pPr>
            <a:r>
              <a:rPr lang="en-US" sz="1600" b="1" dirty="0">
                <a:solidFill>
                  <a:srgbClr val="3B82F6"/>
                </a:solidFill>
                <a:latin typeface="Calibri" pitchFamily="34" charset="0"/>
                <a:ea typeface="Calibri" pitchFamily="34" charset="-122"/>
                <a:cs typeface="Calibri" pitchFamily="34" charset="-120"/>
              </a:rPr>
              <a:t>Parser</a:t>
            </a:r>
            <a:endParaRPr lang="en-US" sz="1600" dirty="0"/>
          </a:p>
        </p:txBody>
      </p:sp>
      <p:sp>
        <p:nvSpPr>
          <p:cNvPr id="7" name="Text 4"/>
          <p:cNvSpPr txBox="1"/>
          <p:nvPr/>
        </p:nvSpPr>
        <p:spPr>
          <a:xfrm>
            <a:off x="6675120" y="3081528"/>
            <a:ext cx="4846320" cy="786384"/>
          </a:xfrm>
          <a:prstGeom prst="rect">
            <a:avLst/>
          </a:prstGeom>
          <a:noFill/>
          <a:ln/>
        </p:spPr>
        <p:txBody>
          <a:bodyPr wrap="square" lIns="0" tIns="0" rIns="0" bIns="0" rtlCol="0" anchor="t"/>
          <a:lstStyle/>
          <a:p>
            <a:pPr algn="l" indent="0" marL="0">
              <a:lnSpc>
                <a:spcPct val="118000"/>
              </a:lnSpc>
              <a:buNone/>
            </a:pPr>
            <a:r>
              <a:rPr lang="en-US" sz="1250" dirty="0">
                <a:solidFill>
                  <a:srgbClr val="8A95A3"/>
                </a:solidFill>
                <a:latin typeface="Calibri" pitchFamily="34" charset="0"/>
                <a:ea typeface="Calibri" pitchFamily="34" charset="-122"/>
                <a:cs typeface="Calibri" pitchFamily="34" charset="-120"/>
              </a:rPr>
              <a:t>Recursive descent for statements, precedence climbing for expressions. Produces a W++ syntax tree.</a:t>
            </a:r>
            <a:endParaRPr lang="en-US" sz="1250" dirty="0"/>
          </a:p>
        </p:txBody>
      </p:sp>
      <p:sp>
        <p:nvSpPr>
          <p:cNvPr id="8" name="Text 5"/>
          <p:cNvSpPr txBox="1"/>
          <p:nvPr/>
        </p:nvSpPr>
        <p:spPr>
          <a:xfrm>
            <a:off x="6675120" y="3941064"/>
            <a:ext cx="4846320" cy="310896"/>
          </a:xfrm>
          <a:prstGeom prst="rect">
            <a:avLst/>
          </a:prstGeom>
          <a:noFill/>
          <a:ln/>
        </p:spPr>
        <p:txBody>
          <a:bodyPr wrap="square" lIns="0" tIns="0" rIns="0" bIns="0" rtlCol="0" anchor="ctr"/>
          <a:lstStyle/>
          <a:p>
            <a:pPr algn="l" indent="0" marL="0">
              <a:buNone/>
            </a:pPr>
            <a:r>
              <a:rPr lang="en-US" sz="1600" b="1" dirty="0">
                <a:solidFill>
                  <a:srgbClr val="3B82F6"/>
                </a:solidFill>
                <a:latin typeface="Calibri" pitchFamily="34" charset="0"/>
                <a:ea typeface="Calibri" pitchFamily="34" charset="-122"/>
                <a:cs typeface="Calibri" pitchFamily="34" charset="-120"/>
              </a:rPr>
              <a:t>Semantic pass</a:t>
            </a:r>
            <a:endParaRPr lang="en-US" sz="1600" dirty="0"/>
          </a:p>
        </p:txBody>
      </p:sp>
      <p:sp>
        <p:nvSpPr>
          <p:cNvPr id="9" name="Text 6"/>
          <p:cNvSpPr txBox="1"/>
          <p:nvPr/>
        </p:nvSpPr>
        <p:spPr>
          <a:xfrm>
            <a:off x="6675120" y="4251960"/>
            <a:ext cx="4846320" cy="786384"/>
          </a:xfrm>
          <a:prstGeom prst="rect">
            <a:avLst/>
          </a:prstGeom>
          <a:noFill/>
          <a:ln/>
        </p:spPr>
        <p:txBody>
          <a:bodyPr wrap="square" lIns="0" tIns="0" rIns="0" bIns="0" rtlCol="0" anchor="t"/>
          <a:lstStyle/>
          <a:p>
            <a:pPr algn="l" indent="0" marL="0">
              <a:lnSpc>
                <a:spcPct val="118000"/>
              </a:lnSpc>
              <a:buNone/>
            </a:pPr>
            <a:r>
              <a:rPr lang="en-US" sz="1250" dirty="0">
                <a:solidFill>
                  <a:srgbClr val="8A95A3"/>
                </a:solidFill>
                <a:latin typeface="Calibri" pitchFamily="34" charset="0"/>
                <a:ea typeface="Calibri" pitchFamily="34" charset="-122"/>
                <a:cs typeface="Calibri" pitchFamily="34" charset="-120"/>
              </a:rPr>
              <a:t>Is dip inside a loop? Is spill inside a cook? Errors that need a view of the whole tree.</a:t>
            </a:r>
            <a:endParaRPr lang="en-US" sz="1250" dirty="0"/>
          </a:p>
        </p:txBody>
      </p:sp>
      <p:sp>
        <p:nvSpPr>
          <p:cNvPr id="10" name="Text 7"/>
          <p:cNvSpPr txBox="1"/>
          <p:nvPr/>
        </p:nvSpPr>
        <p:spPr>
          <a:xfrm>
            <a:off x="6675120" y="5111496"/>
            <a:ext cx="4846320" cy="310896"/>
          </a:xfrm>
          <a:prstGeom prst="rect">
            <a:avLst/>
          </a:prstGeom>
          <a:noFill/>
          <a:ln/>
        </p:spPr>
        <p:txBody>
          <a:bodyPr wrap="square" lIns="0" tIns="0" rIns="0" bIns="0" rtlCol="0" anchor="ctr"/>
          <a:lstStyle/>
          <a:p>
            <a:pPr algn="l" indent="0" marL="0">
              <a:buNone/>
            </a:pPr>
            <a:r>
              <a:rPr lang="en-US" sz="1600" b="1" dirty="0">
                <a:solidFill>
                  <a:srgbClr val="3B82F6"/>
                </a:solidFill>
                <a:latin typeface="Calibri" pitchFamily="34" charset="0"/>
                <a:ea typeface="Calibri" pitchFamily="34" charset="-122"/>
                <a:cs typeface="Calibri" pitchFamily="34" charset="-120"/>
              </a:rPr>
              <a:t>Code generator</a:t>
            </a:r>
            <a:endParaRPr lang="en-US" sz="1600" dirty="0"/>
          </a:p>
        </p:txBody>
      </p:sp>
      <p:sp>
        <p:nvSpPr>
          <p:cNvPr id="11" name="Text 8"/>
          <p:cNvSpPr txBox="1"/>
          <p:nvPr/>
        </p:nvSpPr>
        <p:spPr>
          <a:xfrm>
            <a:off x="6675120" y="5422392"/>
            <a:ext cx="4846320" cy="786384"/>
          </a:xfrm>
          <a:prstGeom prst="rect">
            <a:avLst/>
          </a:prstGeom>
          <a:noFill/>
          <a:ln/>
        </p:spPr>
        <p:txBody>
          <a:bodyPr wrap="square" lIns="0" tIns="0" rIns="0" bIns="0" rtlCol="0" anchor="t"/>
          <a:lstStyle/>
          <a:p>
            <a:pPr algn="l" indent="0" marL="0">
              <a:lnSpc>
                <a:spcPct val="118000"/>
              </a:lnSpc>
              <a:buNone/>
            </a:pPr>
            <a:r>
              <a:rPr lang="en-US" sz="1250" dirty="0">
                <a:solidFill>
                  <a:srgbClr val="8A95A3"/>
                </a:solidFill>
                <a:latin typeface="Calibri" pitchFamily="34" charset="0"/>
                <a:ea typeface="Calibri" pitchFamily="34" charset="-122"/>
                <a:cs typeface="Calibri" pitchFamily="34" charset="-120"/>
              </a:rPr>
              <a:t>Walks the tree and emits Python, remembering which W++ line produced each Python line.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algn="l" indent="0" marL="0">
              <a:buNone/>
            </a:pPr>
            <a:r>
              <a:rPr lang="en-US" sz="3400" b="1" dirty="0">
                <a:solidFill>
                  <a:srgbClr val="DEE3EA"/>
                </a:solidFill>
                <a:latin typeface="Calibri" pitchFamily="34" charset="0"/>
                <a:ea typeface="Calibri" pitchFamily="34" charset="-122"/>
                <a:cs typeface="Calibri" pitchFamily="34" charset="-120"/>
              </a:rPr>
              <a:t>It really is parsed</a:t>
            </a:r>
            <a:endParaRPr lang="en-US" sz="3400" dirty="0"/>
          </a:p>
        </p:txBody>
      </p:sp>
      <p:sp>
        <p:nvSpPr>
          <p:cNvPr id="3" name="Text 1"/>
          <p:cNvSpPr txBox="1"/>
          <p:nvPr/>
        </p:nvSpPr>
        <p:spPr>
          <a:xfrm>
            <a:off x="640080" y="1078992"/>
            <a:ext cx="10881360" cy="384048"/>
          </a:xfrm>
          <a:prstGeom prst="rect">
            <a:avLst/>
          </a:prstGeom>
          <a:noFill/>
          <a:ln/>
        </p:spPr>
        <p:txBody>
          <a:bodyPr wrap="square" lIns="0" tIns="0" rIns="0" bIns="0" rtlCol="0" anchor="ctr"/>
          <a:lstStyle/>
          <a:p>
            <a:pPr algn="l" indent="0" marL="0">
              <a:buNone/>
            </a:pPr>
            <a:r>
              <a:rPr lang="en-US" sz="1500" dirty="0">
                <a:solidFill>
                  <a:srgbClr val="8A95A3"/>
                </a:solidFill>
                <a:latin typeface="Calibri" pitchFamily="34" charset="0"/>
                <a:ea typeface="Calibri" pitchFamily="34" charset="-122"/>
                <a:cs typeface="Calibri" pitchFamily="34" charset="-120"/>
              </a:rPr>
              <a:t>python wpp.py --ast</a:t>
            </a:r>
            <a:endParaRPr lang="en-US" sz="1500" dirty="0"/>
          </a:p>
        </p:txBody>
      </p:sp>
      <p:sp>
        <p:nvSpPr>
          <p:cNvPr id="4" name="Shape 2"/>
          <p:cNvSpPr/>
          <p:nvPr/>
        </p:nvSpPr>
        <p:spPr>
          <a:xfrm>
            <a:off x="640080" y="1828800"/>
            <a:ext cx="5212080" cy="2011680"/>
          </a:xfrm>
          <a:prstGeom prst="roundRect">
            <a:avLst>
              <a:gd name="adj" fmla="val 2727"/>
            </a:avLst>
          </a:prstGeom>
          <a:solidFill>
            <a:srgbClr val="141920"/>
          </a:solidFill>
          <a:ln w="9525">
            <a:solidFill>
              <a:srgbClr val="2B343F"/>
            </a:solidFill>
            <a:prstDash val="solid"/>
          </a:ln>
        </p:spPr>
      </p:sp>
      <p:sp>
        <p:nvSpPr>
          <p:cNvPr id="5" name="Text 3"/>
          <p:cNvSpPr txBox="1"/>
          <p:nvPr/>
        </p:nvSpPr>
        <p:spPr>
          <a:xfrm>
            <a:off x="841248" y="1993392"/>
            <a:ext cx="4809744" cy="1682496"/>
          </a:xfrm>
          <a:prstGeom prst="rect">
            <a:avLst/>
          </a:prstGeom>
          <a:noFill/>
          <a:ln/>
        </p:spPr>
        <p:txBody>
          <a:bodyPr wrap="square" lIns="0" tIns="0" rIns="0" bIns="0" rtlCol="0" anchor="t"/>
          <a:lstStyle/>
          <a:p>
            <a:pPr algn="l" indent="0" marL="0">
              <a:lnSpc>
                <a:spcPct val="118000"/>
              </a:lnSpc>
              <a:buNone/>
            </a:pPr>
            <a:r>
              <a:rPr lang="en-US" sz="1300" dirty="0">
                <a:solidFill>
                  <a:srgbClr val="B48EAD"/>
                </a:solidFill>
                <a:latin typeface="Courier New" pitchFamily="34" charset="0"/>
                <a:ea typeface="Courier New" pitchFamily="34" charset="-122"/>
                <a:cs typeface="Courier New" pitchFamily="34" charset="-120"/>
              </a:rPr>
              <a:t>cook</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check_vibe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name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endParaRPr lang="en-US" sz="1300" dirty="0"/>
          </a:p>
          <a:p>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B48EAD"/>
                </a:solidFill>
                <a:latin typeface="Courier New" pitchFamily="34" charset="0"/>
                <a:ea typeface="Courier New" pitchFamily="34" charset="-122"/>
                <a:cs typeface="Courier New" pitchFamily="34" charset="-120"/>
              </a:rPr>
              <a:t>bet</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name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 </a:t>
            </a:r>
            <a:pPr algn="l" indent="0" marL="0">
              <a:lnSpc>
                <a:spcPct val="118000"/>
              </a:lnSpc>
              <a:buNone/>
            </a:pPr>
            <a:r>
              <a:rPr lang="en-US" sz="1300" dirty="0">
                <a:solidFill>
                  <a:srgbClr val="97B982"/>
                </a:solidFill>
                <a:latin typeface="Courier New" pitchFamily="34" charset="0"/>
                <a:ea typeface="Courier New" pitchFamily="34" charset="-122"/>
                <a:cs typeface="Courier New" pitchFamily="34" charset="-120"/>
              </a:rPr>
              <a:t>"Claude"</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a:t>
            </a:r>
            <a:pPr algn="l" indent="0" marL="0">
              <a:lnSpc>
                <a:spcPct val="118000"/>
              </a:lnSpc>
              <a:buNone/>
            </a:pPr>
            <a:endParaRPr lang="en-US" sz="1300" dirty="0"/>
          </a:p>
          <a:p>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B48EAD"/>
                </a:solidFill>
                <a:latin typeface="Courier New" pitchFamily="34" charset="0"/>
                <a:ea typeface="Courier New" pitchFamily="34" charset="-122"/>
                <a:cs typeface="Courier New" pitchFamily="34" charset="-120"/>
              </a:rPr>
              <a:t>spill</a:t>
            </a:r>
            <a:pPr algn="l" indent="0" marL="0">
              <a:lnSpc>
                <a:spcPct val="118000"/>
              </a:lnSpc>
              <a:buNone/>
            </a:pPr>
            <a:r>
              <a:rPr lang="en-US" sz="1300" dirty="0">
                <a:solidFill>
                  <a:srgbClr val="DEE3EA"/>
                </a:solidFill>
                <a:latin typeface="Courier New" pitchFamily="34" charset="0"/>
                <a:ea typeface="Courier New" pitchFamily="34" charset="-122"/>
                <a:cs typeface="Courier New" pitchFamily="34" charset="-120"/>
              </a:rPr>
              <a:t> </a:t>
            </a:r>
            <a:pPr algn="l" indent="0" marL="0">
              <a:lnSpc>
                <a:spcPct val="118000"/>
              </a:lnSpc>
              <a:buNone/>
            </a:pPr>
            <a:r>
              <a:rPr lang="en-US" sz="1300" dirty="0">
                <a:solidFill>
                  <a:srgbClr val="97B982"/>
                </a:solidFill>
                <a:latin typeface="Courier New" pitchFamily="34" charset="0"/>
                <a:ea typeface="Courier New" pitchFamily="34" charset="-122"/>
                <a:cs typeface="Courier New" pitchFamily="34" charset="-120"/>
              </a:rPr>
              <a:t>"W AI"</a:t>
            </a:r>
            <a:endParaRPr lang="en-US" sz="1300" dirty="0"/>
          </a:p>
        </p:txBody>
      </p:sp>
      <p:sp>
        <p:nvSpPr>
          <p:cNvPr id="6" name="Text 4"/>
          <p:cNvSpPr txBox="1"/>
          <p:nvPr/>
        </p:nvSpPr>
        <p:spPr>
          <a:xfrm>
            <a:off x="640080" y="4069080"/>
            <a:ext cx="5212080" cy="822960"/>
          </a:xfrm>
          <a:prstGeom prst="rect">
            <a:avLst/>
          </a:prstGeom>
          <a:noFill/>
          <a:ln/>
        </p:spPr>
        <p:txBody>
          <a:bodyPr wrap="square" lIns="0" tIns="0" rIns="0" bIns="0" rtlCol="0" anchor="t"/>
          <a:lstStyle/>
          <a:p>
            <a:pPr algn="l" indent="0" marL="0">
              <a:lnSpc>
                <a:spcPct val="120000"/>
              </a:lnSpc>
              <a:buNone/>
            </a:pPr>
            <a:r>
              <a:rPr lang="en-US" sz="1400" dirty="0">
                <a:solidFill>
                  <a:srgbClr val="8A95A3"/>
                </a:solidFill>
                <a:latin typeface="Calibri" pitchFamily="34" charset="0"/>
                <a:ea typeface="Calibri" pitchFamily="34" charset="-122"/>
                <a:cs typeface="Calibri" pitchFamily="34" charset="-120"/>
              </a:rPr>
              <a:t>becomes a tree of W++ constructs, each remembering where it came from</a:t>
            </a:r>
            <a:endParaRPr lang="en-US" sz="1400" dirty="0"/>
          </a:p>
        </p:txBody>
      </p:sp>
      <p:sp>
        <p:nvSpPr>
          <p:cNvPr id="7" name="Shape 5"/>
          <p:cNvSpPr/>
          <p:nvPr/>
        </p:nvSpPr>
        <p:spPr>
          <a:xfrm>
            <a:off x="6309360" y="1828800"/>
            <a:ext cx="5212080" cy="4023360"/>
          </a:xfrm>
          <a:prstGeom prst="roundRect">
            <a:avLst>
              <a:gd name="adj" fmla="val 1364"/>
            </a:avLst>
          </a:prstGeom>
          <a:solidFill>
            <a:srgbClr val="141920"/>
          </a:solidFill>
          <a:ln w="9525">
            <a:solidFill>
              <a:srgbClr val="2B343F"/>
            </a:solidFill>
            <a:prstDash val="solid"/>
          </a:ln>
        </p:spPr>
      </p:sp>
      <p:sp>
        <p:nvSpPr>
          <p:cNvPr id="8" name="Text 6"/>
          <p:cNvSpPr txBox="1"/>
          <p:nvPr/>
        </p:nvSpPr>
        <p:spPr>
          <a:xfrm>
            <a:off x="6510528" y="1993392"/>
            <a:ext cx="4809744" cy="3694176"/>
          </a:xfrm>
          <a:prstGeom prst="rect">
            <a:avLst/>
          </a:prstGeom>
          <a:noFill/>
          <a:ln/>
        </p:spPr>
        <p:txBody>
          <a:bodyPr wrap="square" lIns="0" tIns="0" rIns="0" bIns="0" rtlCol="0" anchor="t"/>
          <a:lstStyle/>
          <a:p>
            <a:pPr algn="l" indent="0" marL="0">
              <a:lnSpc>
                <a:spcPct val="118000"/>
              </a:lnSpc>
              <a:buNone/>
            </a:pPr>
            <a:r>
              <a:rPr lang="en-US" sz="1100" dirty="0">
                <a:solidFill>
                  <a:srgbClr val="DEE3EA"/>
                </a:solidFill>
                <a:latin typeface="Courier New" pitchFamily="34" charset="0"/>
                <a:ea typeface="Courier New" pitchFamily="34" charset="-122"/>
                <a:cs typeface="Courier New" pitchFamily="34" charset="-120"/>
              </a:rPr>
              <a:t>Program</a:t>
            </a:r>
            <a:endParaRPr lang="en-US" sz="1100" dirty="0"/>
          </a:p>
          <a:p>
            <a:pPr algn="l" indent="0" marL="0">
              <a:lnSpc>
                <a:spcPct val="118000"/>
              </a:lnSpc>
              <a:buNone/>
            </a:pPr>
            <a:r>
              <a:rPr lang="en-US" sz="1100" dirty="0">
                <a:solidFill>
                  <a:srgbClr val="3B82F6"/>
                </a:solidFill>
                <a:latin typeface="Courier New" pitchFamily="34" charset="0"/>
                <a:ea typeface="Courier New" pitchFamily="34" charset="-122"/>
                <a:cs typeface="Courier New" pitchFamily="34" charset="-120"/>
              </a:rPr>
              <a:t>  FunctionDeclaration</a:t>
            </a:r>
            <a:endParaRPr lang="en-US" sz="1100" dirty="0"/>
          </a:p>
          <a:p>
            <a:pPr algn="l" indent="0" marL="0">
              <a:lnSpc>
                <a:spcPct val="118000"/>
              </a:lnSpc>
              <a:buNone/>
            </a:pPr>
            <a:r>
              <a:rPr lang="en-US" sz="1100" dirty="0">
                <a:solidFill>
                  <a:srgbClr val="8A95A3"/>
                </a:solidFill>
                <a:latin typeface="Courier New" pitchFamily="34" charset="0"/>
                <a:ea typeface="Courier New" pitchFamily="34" charset="-122"/>
                <a:cs typeface="Courier New" pitchFamily="34" charset="-120"/>
              </a:rPr>
              <a:t>    name='check_vibe'</a:t>
            </a:r>
            <a:endParaRPr lang="en-US" sz="1100" dirty="0"/>
          </a:p>
          <a:p>
            <a:pPr algn="l" indent="0" marL="0">
              <a:lnSpc>
                <a:spcPct val="118000"/>
              </a:lnSpc>
              <a:buNone/>
            </a:pPr>
            <a:r>
              <a:rPr lang="en-US" sz="1100" dirty="0">
                <a:solidFill>
                  <a:srgbClr val="8A95A3"/>
                </a:solidFill>
                <a:latin typeface="Courier New" pitchFamily="34" charset="0"/>
                <a:ea typeface="Courier New" pitchFamily="34" charset="-122"/>
                <a:cs typeface="Courier New" pitchFamily="34" charset="-120"/>
              </a:rPr>
              <a:t>    keyword='cook'  @1:0</a:t>
            </a:r>
            <a:endParaRPr lang="en-US" sz="1100" dirty="0"/>
          </a:p>
          <a:p>
            <a:pPr algn="l" indent="0" marL="0">
              <a:lnSpc>
                <a:spcPct val="118000"/>
              </a:lnSpc>
              <a:buNone/>
            </a:pPr>
            <a:r>
              <a:rPr lang="en-US" sz="1100" dirty="0">
                <a:solidFill>
                  <a:srgbClr val="8A95A3"/>
                </a:solidFill>
                <a:latin typeface="Courier New" pitchFamily="34" charset="0"/>
                <a:ea typeface="Courier New" pitchFamily="34" charset="-122"/>
                <a:cs typeface="Courier New" pitchFamily="34" charset="-120"/>
              </a:rPr>
              <a:t>    params: name</a:t>
            </a:r>
            <a:endParaRPr lang="en-US" sz="1100" dirty="0"/>
          </a:p>
          <a:p>
            <a:pPr algn="l" indent="0" marL="0">
              <a:lnSpc>
                <a:spcPct val="118000"/>
              </a:lnSpc>
              <a:buNone/>
            </a:pPr>
            <a:r>
              <a:rPr lang="en-US" sz="1100" dirty="0">
                <a:solidFill>
                  <a:srgbClr val="8A95A3"/>
                </a:solidFill>
                <a:latin typeface="Courier New" pitchFamily="34" charset="0"/>
                <a:ea typeface="Courier New" pitchFamily="34" charset="-122"/>
                <a:cs typeface="Courier New" pitchFamily="34" charset="-120"/>
              </a:rPr>
              <a:t>    body:</a:t>
            </a:r>
            <a:endParaRPr lang="en-US" sz="1100" dirty="0"/>
          </a:p>
          <a:p>
            <a:pPr algn="l" indent="0" marL="0">
              <a:lnSpc>
                <a:spcPct val="118000"/>
              </a:lnSpc>
              <a:buNone/>
            </a:pPr>
            <a:r>
              <a:rPr lang="en-US" sz="1100" dirty="0">
                <a:solidFill>
                  <a:srgbClr val="3B82F6"/>
                </a:solidFill>
                <a:latin typeface="Courier New" pitchFamily="34" charset="0"/>
                <a:ea typeface="Courier New" pitchFamily="34" charset="-122"/>
                <a:cs typeface="Courier New" pitchFamily="34" charset="-120"/>
              </a:rPr>
              <a:t>      IfStatement  @2:4</a:t>
            </a:r>
            <a:endParaRPr lang="en-US" sz="1100" dirty="0"/>
          </a:p>
          <a:p>
            <a:pPr algn="l" indent="0" marL="0">
              <a:lnSpc>
                <a:spcPct val="118000"/>
              </a:lnSpc>
              <a:buNone/>
            </a:pPr>
            <a:r>
              <a:rPr lang="en-US" sz="1100" dirty="0">
                <a:solidFill>
                  <a:srgbClr val="8A95A3"/>
                </a:solidFill>
                <a:latin typeface="Courier New" pitchFamily="34" charset="0"/>
                <a:ea typeface="Courier New" pitchFamily="34" charset="-122"/>
                <a:cs typeface="Courier New" pitchFamily="34" charset="-120"/>
              </a:rPr>
              <a:t>        condition:</a:t>
            </a:r>
            <a:endParaRPr lang="en-US" sz="1100" dirty="0"/>
          </a:p>
          <a:p>
            <a:pPr algn="l" indent="0" marL="0">
              <a:lnSpc>
                <a:spcPct val="118000"/>
              </a:lnSpc>
              <a:buNone/>
            </a:pPr>
            <a:r>
              <a:rPr lang="en-US" sz="1100" dirty="0">
                <a:solidFill>
                  <a:srgbClr val="DEE3EA"/>
                </a:solidFill>
                <a:latin typeface="Courier New" pitchFamily="34" charset="0"/>
                <a:ea typeface="Courier New" pitchFamily="34" charset="-122"/>
                <a:cs typeface="Courier New" pitchFamily="34" charset="-120"/>
              </a:rPr>
              <a:t>          Comparison  ==</a:t>
            </a:r>
            <a:endParaRPr lang="en-US" sz="1100" dirty="0"/>
          </a:p>
          <a:p>
            <a:pPr algn="l" indent="0" marL="0">
              <a:lnSpc>
                <a:spcPct val="118000"/>
              </a:lnSpc>
              <a:buNone/>
            </a:pPr>
            <a:r>
              <a:rPr lang="en-US" sz="1100" dirty="0">
                <a:solidFill>
                  <a:srgbClr val="8A95A3"/>
                </a:solidFill>
                <a:latin typeface="Courier New" pitchFamily="34" charset="0"/>
                <a:ea typeface="Courier New" pitchFamily="34" charset="-122"/>
                <a:cs typeface="Courier New" pitchFamily="34" charset="-120"/>
              </a:rPr>
              <a:t>            Identifier name</a:t>
            </a:r>
            <a:endParaRPr lang="en-US" sz="1100" dirty="0"/>
          </a:p>
          <a:p>
            <a:pPr algn="l" indent="0" marL="0">
              <a:lnSpc>
                <a:spcPct val="118000"/>
              </a:lnSpc>
              <a:buNone/>
            </a:pPr>
            <a:r>
              <a:rPr lang="en-US" sz="1100" dirty="0">
                <a:solidFill>
                  <a:srgbClr val="97B982"/>
                </a:solidFill>
                <a:latin typeface="Courier New" pitchFamily="34" charset="0"/>
                <a:ea typeface="Courier New" pitchFamily="34" charset="-122"/>
                <a:cs typeface="Courier New" pitchFamily="34" charset="-120"/>
              </a:rPr>
              <a:t>            Literal "Claude"</a:t>
            </a:r>
            <a:endParaRPr lang="en-US" sz="1100" dirty="0"/>
          </a:p>
          <a:p>
            <a:pPr algn="l" indent="0" marL="0">
              <a:lnSpc>
                <a:spcPct val="118000"/>
              </a:lnSpc>
              <a:buNone/>
            </a:pPr>
            <a:r>
              <a:rPr lang="en-US" sz="1100" dirty="0">
                <a:solidFill>
                  <a:srgbClr val="8A95A3"/>
                </a:solidFill>
                <a:latin typeface="Courier New" pitchFamily="34" charset="0"/>
                <a:ea typeface="Courier New" pitchFamily="34" charset="-122"/>
                <a:cs typeface="Courier New" pitchFamily="34" charset="-120"/>
              </a:rPr>
              <a:t>        body:</a:t>
            </a:r>
            <a:endParaRPr lang="en-US" sz="1100" dirty="0"/>
          </a:p>
          <a:p>
            <a:pPr algn="l" indent="0" marL="0">
              <a:lnSpc>
                <a:spcPct val="118000"/>
              </a:lnSpc>
              <a:buNone/>
            </a:pPr>
            <a:r>
              <a:rPr lang="en-US" sz="1100" dirty="0">
                <a:solidFill>
                  <a:srgbClr val="3B82F6"/>
                </a:solidFill>
                <a:latin typeface="Courier New" pitchFamily="34" charset="0"/>
                <a:ea typeface="Courier New" pitchFamily="34" charset="-122"/>
                <a:cs typeface="Courier New" pitchFamily="34" charset="-120"/>
              </a:rPr>
              <a:t>          ReturnStatement</a:t>
            </a:r>
            <a:endParaRPr lang="en-US" sz="1100" dirty="0"/>
          </a:p>
          <a:p>
            <a:pPr algn="l" indent="0" marL="0">
              <a:lnSpc>
                <a:spcPct val="118000"/>
              </a:lnSpc>
              <a:buNone/>
            </a:pPr>
            <a:r>
              <a:rPr lang="en-US" sz="1100" dirty="0">
                <a:solidFill>
                  <a:srgbClr val="8A95A3"/>
                </a:solidFill>
                <a:latin typeface="Courier New" pitchFamily="34" charset="0"/>
                <a:ea typeface="Courier New" pitchFamily="34" charset="-122"/>
                <a:cs typeface="Courier New" pitchFamily="34" charset="-120"/>
              </a:rPr>
              <a:t>            keyword='spill'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algn="l" indent="0" marL="0">
              <a:buNone/>
            </a:pPr>
            <a:r>
              <a:rPr lang="en-US" sz="3400" b="1" dirty="0">
                <a:solidFill>
                  <a:srgbClr val="DEE3EA"/>
                </a:solidFill>
                <a:latin typeface="Calibri" pitchFamily="34" charset="0"/>
                <a:ea typeface="Calibri" pitchFamily="34" charset="-122"/>
                <a:cs typeface="Calibri" pitchFamily="34" charset="-120"/>
              </a:rPr>
              <a:t>Errors speak W++</a:t>
            </a:r>
            <a:endParaRPr lang="en-US" sz="3400" dirty="0"/>
          </a:p>
        </p:txBody>
      </p:sp>
      <p:sp>
        <p:nvSpPr>
          <p:cNvPr id="3" name="Text 1"/>
          <p:cNvSpPr txBox="1"/>
          <p:nvPr/>
        </p:nvSpPr>
        <p:spPr>
          <a:xfrm>
            <a:off x="640080" y="1078992"/>
            <a:ext cx="10881360" cy="384048"/>
          </a:xfrm>
          <a:prstGeom prst="rect">
            <a:avLst/>
          </a:prstGeom>
          <a:noFill/>
          <a:ln/>
        </p:spPr>
        <p:txBody>
          <a:bodyPr wrap="square" lIns="0" tIns="0" rIns="0" bIns="0" rtlCol="0" anchor="ctr"/>
          <a:lstStyle/>
          <a:p>
            <a:pPr algn="l" indent="0" marL="0">
              <a:buNone/>
            </a:pPr>
            <a:r>
              <a:rPr lang="en-US" sz="1500" dirty="0">
                <a:solidFill>
                  <a:srgbClr val="8A95A3"/>
                </a:solidFill>
                <a:latin typeface="Calibri" pitchFamily="34" charset="0"/>
                <a:ea typeface="Calibri" pitchFamily="34" charset="-122"/>
                <a:cs typeface="Calibri" pitchFamily="34" charset="-120"/>
              </a:rPr>
              <a:t>The Skill Issue Protocol - and it points at your line, not generated code.</a:t>
            </a:r>
            <a:endParaRPr lang="en-US" sz="1500" dirty="0"/>
          </a:p>
        </p:txBody>
      </p:sp>
      <p:pic>
        <p:nvPicPr>
          <p:cNvPr id="4" name="Image 0" descr="C:\Users\noble\Documents\wplusplus\docs\images\screenshot2-skill-issue.png">    </p:cNvPr>
          <p:cNvPicPr>
            <a:picLocks noChangeAspect="1"/>
          </p:cNvPicPr>
          <p:nvPr/>
        </p:nvPicPr>
        <p:blipFill>
          <a:blip r:embed="rId1"/>
          <a:stretch>
            <a:fillRect/>
          </a:stretch>
        </p:blipFill>
        <p:spPr>
          <a:xfrm>
            <a:off x="640080" y="1828800"/>
            <a:ext cx="10881360" cy="3655457"/>
          </a:xfrm>
          <a:prstGeom prst="rect">
            <a:avLst/>
          </a:prstGeom>
        </p:spPr>
      </p:pic>
      <p:sp>
        <p:nvSpPr>
          <p:cNvPr id="5" name="Text 2"/>
          <p:cNvSpPr txBox="1"/>
          <p:nvPr/>
        </p:nvSpPr>
        <p:spPr>
          <a:xfrm>
            <a:off x="640080" y="5852160"/>
            <a:ext cx="10881360" cy="548640"/>
          </a:xfrm>
          <a:prstGeom prst="rect">
            <a:avLst/>
          </a:prstGeom>
          <a:noFill/>
          <a:ln/>
        </p:spPr>
        <p:txBody>
          <a:bodyPr wrap="square" lIns="0" tIns="0" rIns="0" bIns="0" rtlCol="0" anchor="ctr"/>
          <a:lstStyle/>
          <a:p>
            <a:pPr algn="l" indent="0" marL="0">
              <a:buNone/>
            </a:pPr>
            <a:r>
              <a:rPr lang="en-US" sz="1300" b="1" dirty="0">
                <a:solidFill>
                  <a:srgbClr val="3B82F6"/>
                </a:solidFill>
                <a:latin typeface="Courier New" pitchFamily="34" charset="0"/>
                <a:ea typeface="Courier New" pitchFamily="34" charset="-122"/>
                <a:cs typeface="Courier New" pitchFamily="34" charset="-120"/>
              </a:rPr>
              <a:t>Line 5</a:t>
            </a:r>
            <a:pPr algn="l" indent="0" marL="0">
              <a:buNone/>
            </a:pPr>
            <a:r>
              <a:rPr lang="en-US" sz="1300" dirty="0">
                <a:solidFill>
                  <a:srgbClr val="8A95A3"/>
                </a:solidFill>
                <a:latin typeface="Calibri" pitchFamily="34" charset="0"/>
                <a:ea typeface="Calibri" pitchFamily="34" charset="-122"/>
                <a:cs typeface="Calibri" pitchFamily="34" charset="-120"/>
              </a:rPr>
              <a:t>  is the W++ line the author wrote. The compiler keeps a map from generated Python back to the source, so no message ever mentions code nobody typed.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algn="l" indent="0" marL="0">
              <a:buNone/>
            </a:pPr>
            <a:r>
              <a:rPr lang="en-US" sz="3400" b="1" dirty="0">
                <a:solidFill>
                  <a:srgbClr val="DEE3EA"/>
                </a:solidFill>
                <a:latin typeface="Calibri" pitchFamily="34" charset="0"/>
                <a:ea typeface="Calibri" pitchFamily="34" charset="-122"/>
                <a:cs typeface="Calibri" pitchFamily="34" charset="-120"/>
              </a:rPr>
              <a:t>It runs in two places</a:t>
            </a:r>
            <a:endParaRPr lang="en-US" sz="3400" dirty="0"/>
          </a:p>
        </p:txBody>
      </p:sp>
      <p:sp>
        <p:nvSpPr>
          <p:cNvPr id="3" name="Text 1"/>
          <p:cNvSpPr txBox="1"/>
          <p:nvPr/>
        </p:nvSpPr>
        <p:spPr>
          <a:xfrm>
            <a:off x="640080" y="1078992"/>
            <a:ext cx="10881360" cy="384048"/>
          </a:xfrm>
          <a:prstGeom prst="rect">
            <a:avLst/>
          </a:prstGeom>
          <a:noFill/>
          <a:ln/>
        </p:spPr>
        <p:txBody>
          <a:bodyPr wrap="square" lIns="0" tIns="0" rIns="0" bIns="0" rtlCol="0" anchor="ctr"/>
          <a:lstStyle/>
          <a:p>
            <a:pPr algn="l" indent="0" marL="0">
              <a:buNone/>
            </a:pPr>
            <a:r>
              <a:rPr lang="en-US" sz="1500" dirty="0">
                <a:solidFill>
                  <a:srgbClr val="8A95A3"/>
                </a:solidFill>
                <a:latin typeface="Calibri" pitchFamily="34" charset="0"/>
                <a:ea typeface="Calibri" pitchFamily="34" charset="-122"/>
                <a:cs typeface="Calibri" pitchFamily="34" charset="-120"/>
              </a:rPr>
              <a:t>One codebase. The interface cannot tell them apart.</a:t>
            </a:r>
            <a:endParaRPr lang="en-US" sz="1500" dirty="0"/>
          </a:p>
        </p:txBody>
      </p:sp>
      <p:sp>
        <p:nvSpPr>
          <p:cNvPr id="4" name="Shape 2"/>
          <p:cNvSpPr/>
          <p:nvPr/>
        </p:nvSpPr>
        <p:spPr>
          <a:xfrm>
            <a:off x="640080" y="1874520"/>
            <a:ext cx="5212080" cy="2331720"/>
          </a:xfrm>
          <a:prstGeom prst="roundRect">
            <a:avLst>
              <a:gd name="adj" fmla="val 2353"/>
            </a:avLst>
          </a:prstGeom>
          <a:solidFill>
            <a:srgbClr val="141920"/>
          </a:solidFill>
          <a:ln w="9525">
            <a:solidFill>
              <a:srgbClr val="2B343F"/>
            </a:solidFill>
            <a:prstDash val="solid"/>
          </a:ln>
        </p:spPr>
      </p:sp>
      <p:sp>
        <p:nvSpPr>
          <p:cNvPr id="5" name="Text 3"/>
          <p:cNvSpPr txBox="1"/>
          <p:nvPr/>
        </p:nvSpPr>
        <p:spPr>
          <a:xfrm>
            <a:off x="914400" y="2103120"/>
            <a:ext cx="4663440" cy="365760"/>
          </a:xfrm>
          <a:prstGeom prst="rect">
            <a:avLst/>
          </a:prstGeom>
          <a:noFill/>
          <a:ln/>
        </p:spPr>
        <p:txBody>
          <a:bodyPr wrap="square" lIns="0" tIns="0" rIns="0" bIns="0" rtlCol="0" anchor="ctr"/>
          <a:lstStyle/>
          <a:p>
            <a:pPr algn="l" indent="0" marL="0">
              <a:buNone/>
            </a:pPr>
            <a:r>
              <a:rPr lang="en-US" sz="2000" b="1" dirty="0">
                <a:solidFill>
                  <a:srgbClr val="DEE3EA"/>
                </a:solidFill>
                <a:latin typeface="Calibri" pitchFamily="34" charset="0"/>
                <a:ea typeface="Calibri" pitchFamily="34" charset="-122"/>
                <a:cs typeface="Calibri" pitchFamily="34" charset="-120"/>
              </a:rPr>
              <a:t>Locally</a:t>
            </a:r>
            <a:endParaRPr lang="en-US" sz="2000" dirty="0"/>
          </a:p>
        </p:txBody>
      </p:sp>
      <p:sp>
        <p:nvSpPr>
          <p:cNvPr id="6" name="Text 4"/>
          <p:cNvSpPr txBox="1"/>
          <p:nvPr/>
        </p:nvSpPr>
        <p:spPr>
          <a:xfrm>
            <a:off x="914400" y="2560320"/>
            <a:ext cx="4663440" cy="1371600"/>
          </a:xfrm>
          <a:prstGeom prst="rect">
            <a:avLst/>
          </a:prstGeom>
          <a:noFill/>
          <a:ln/>
        </p:spPr>
        <p:txBody>
          <a:bodyPr wrap="square" lIns="0" tIns="0" rIns="0" bIns="0" rtlCol="0" anchor="t"/>
          <a:lstStyle/>
          <a:p>
            <a:pPr algn="l" indent="0" marL="0">
              <a:lnSpc>
                <a:spcPct val="120000"/>
              </a:lnSpc>
              <a:buNone/>
            </a:pPr>
            <a:r>
              <a:rPr lang="en-US" sz="1400" dirty="0">
                <a:solidFill>
                  <a:srgbClr val="8A95A3"/>
                </a:solidFill>
                <a:latin typeface="Calibri" pitchFamily="34" charset="0"/>
                <a:ea typeface="Calibri" pitchFamily="34" charset="-122"/>
                <a:cs typeface="Calibri" pitchFamily="34" charset="-120"/>
              </a:rPr>
              <a:t>A small Python server runs each program in its own child process, with a timeout.</a:t>
            </a:r>
            <a:endParaRPr lang="en-US" sz="1400" dirty="0"/>
          </a:p>
        </p:txBody>
      </p:sp>
      <p:sp>
        <p:nvSpPr>
          <p:cNvPr id="7" name="Shape 5"/>
          <p:cNvSpPr/>
          <p:nvPr/>
        </p:nvSpPr>
        <p:spPr>
          <a:xfrm>
            <a:off x="6309360" y="1874520"/>
            <a:ext cx="5212080" cy="2331720"/>
          </a:xfrm>
          <a:prstGeom prst="roundRect">
            <a:avLst>
              <a:gd name="adj" fmla="val 2353"/>
            </a:avLst>
          </a:prstGeom>
          <a:solidFill>
            <a:srgbClr val="141920"/>
          </a:solidFill>
          <a:ln w="9525">
            <a:solidFill>
              <a:srgbClr val="2B343F"/>
            </a:solidFill>
            <a:prstDash val="solid"/>
          </a:ln>
        </p:spPr>
      </p:sp>
      <p:sp>
        <p:nvSpPr>
          <p:cNvPr id="8" name="Text 6"/>
          <p:cNvSpPr txBox="1"/>
          <p:nvPr/>
        </p:nvSpPr>
        <p:spPr>
          <a:xfrm>
            <a:off x="6583680" y="2103120"/>
            <a:ext cx="4663440" cy="365760"/>
          </a:xfrm>
          <a:prstGeom prst="rect">
            <a:avLst/>
          </a:prstGeom>
          <a:noFill/>
          <a:ln/>
        </p:spPr>
        <p:txBody>
          <a:bodyPr wrap="square" lIns="0" tIns="0" rIns="0" bIns="0" rtlCol="0" anchor="ctr"/>
          <a:lstStyle/>
          <a:p>
            <a:pPr algn="l" indent="0" marL="0">
              <a:buNone/>
            </a:pPr>
            <a:r>
              <a:rPr lang="en-US" sz="2000" b="1" dirty="0">
                <a:solidFill>
                  <a:srgbClr val="3B82F6"/>
                </a:solidFill>
                <a:latin typeface="Calibri" pitchFamily="34" charset="0"/>
                <a:ea typeface="Calibri" pitchFamily="34" charset="-122"/>
                <a:cs typeface="Calibri" pitchFamily="34" charset="-120"/>
              </a:rPr>
              <a:t>In your browser</a:t>
            </a:r>
            <a:endParaRPr lang="en-US" sz="2000" dirty="0"/>
          </a:p>
        </p:txBody>
      </p:sp>
      <p:sp>
        <p:nvSpPr>
          <p:cNvPr id="9" name="Text 7"/>
          <p:cNvSpPr txBox="1"/>
          <p:nvPr/>
        </p:nvSpPr>
        <p:spPr>
          <a:xfrm>
            <a:off x="6583680" y="2560320"/>
            <a:ext cx="4663440" cy="1371600"/>
          </a:xfrm>
          <a:prstGeom prst="rect">
            <a:avLst/>
          </a:prstGeom>
          <a:noFill/>
          <a:ln/>
        </p:spPr>
        <p:txBody>
          <a:bodyPr wrap="square" lIns="0" tIns="0" rIns="0" bIns="0" rtlCol="0" anchor="t"/>
          <a:lstStyle/>
          <a:p>
            <a:pPr algn="l" indent="0" marL="0">
              <a:lnSpc>
                <a:spcPct val="120000"/>
              </a:lnSpc>
              <a:buNone/>
            </a:pPr>
            <a:r>
              <a:rPr lang="en-US" sz="1400" dirty="0">
                <a:solidFill>
                  <a:srgbClr val="8A95A3"/>
                </a:solidFill>
                <a:latin typeface="Calibri" pitchFamily="34" charset="0"/>
                <a:ea typeface="Calibri" pitchFamily="34" charset="-122"/>
                <a:cs typeface="Calibri" pitchFamily="34" charset="-120"/>
              </a:rPr>
              <a:t>The same compiler runs under Pyodide - CPython on WebAssembly - inside a worker. No backend at all.</a:t>
            </a:r>
            <a:endParaRPr lang="en-US" sz="1400" dirty="0"/>
          </a:p>
        </p:txBody>
      </p:sp>
      <p:sp>
        <p:nvSpPr>
          <p:cNvPr id="10" name="Text 8"/>
          <p:cNvSpPr txBox="1"/>
          <p:nvPr/>
        </p:nvSpPr>
        <p:spPr>
          <a:xfrm>
            <a:off x="640080" y="4572000"/>
            <a:ext cx="10881360" cy="548640"/>
          </a:xfrm>
          <a:prstGeom prst="rect">
            <a:avLst/>
          </a:prstGeom>
          <a:noFill/>
          <a:ln/>
        </p:spPr>
        <p:txBody>
          <a:bodyPr wrap="square" lIns="0" tIns="0" rIns="0" bIns="0" rtlCol="0" anchor="ctr"/>
          <a:lstStyle/>
          <a:p>
            <a:pPr algn="l" indent="0" marL="0">
              <a:lnSpc>
                <a:spcPct val="120000"/>
              </a:lnSpc>
              <a:buNone/>
            </a:pPr>
            <a:r>
              <a:rPr lang="en-US" sz="1500" dirty="0">
                <a:solidFill>
                  <a:srgbClr val="8A95A3"/>
                </a:solidFill>
                <a:latin typeface="Calibri" pitchFamily="34" charset="0"/>
                <a:ea typeface="Calibri" pitchFamily="34" charset="-122"/>
                <a:cs typeface="Calibri" pitchFamily="34" charset="-120"/>
              </a:rPr>
              <a:t>So the playground deploys as static files, and it is safe to make public: </a:t>
            </a:r>
            <a:pPr algn="l" indent="0" marL="0">
              <a:lnSpc>
                <a:spcPct val="120000"/>
              </a:lnSpc>
              <a:buNone/>
            </a:pPr>
            <a:r>
              <a:rPr lang="en-US" sz="1500" b="1" dirty="0">
                <a:solidFill>
                  <a:srgbClr val="DEE3EA"/>
                </a:solidFill>
                <a:latin typeface="Calibri" pitchFamily="34" charset="0"/>
                <a:ea typeface="Calibri" pitchFamily="34" charset="-122"/>
                <a:cs typeface="Calibri" pitchFamily="34" charset="-120"/>
              </a:rPr>
              <a:t>there is no server executing anyone's code.</a:t>
            </a:r>
            <a:endParaRPr lang="en-US" sz="1500" dirty="0"/>
          </a:p>
        </p:txBody>
      </p:sp>
      <p:sp>
        <p:nvSpPr>
          <p:cNvPr id="11" name="Text 9"/>
          <p:cNvSpPr txBox="1"/>
          <p:nvPr/>
        </p:nvSpPr>
        <p:spPr>
          <a:xfrm>
            <a:off x="640080" y="5349240"/>
            <a:ext cx="5486400" cy="365760"/>
          </a:xfrm>
          <a:prstGeom prst="rect">
            <a:avLst/>
          </a:prstGeom>
          <a:noFill/>
          <a:ln/>
        </p:spPr>
        <p:txBody>
          <a:bodyPr wrap="square" lIns="0" tIns="0" rIns="0" bIns="0" rtlCol="0" anchor="ctr"/>
          <a:lstStyle/>
          <a:p>
            <a:pPr algn="l" indent="0" marL="0">
              <a:buNone/>
            </a:pPr>
            <a:r>
              <a:rPr lang="en-US" sz="1400" dirty="0">
                <a:solidFill>
                  <a:srgbClr val="3B82F6"/>
                </a:solidFill>
                <a:latin typeface="Courier New" pitchFamily="34" charset="0"/>
                <a:ea typeface="Courier New" pitchFamily="34" charset="-122"/>
                <a:cs typeface="Courier New" pitchFamily="34" charset="-120"/>
              </a:rPr>
              <a:t>wplusplus.vercel.app</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algn="l" indent="0" marL="0">
              <a:buNone/>
            </a:pPr>
            <a:r>
              <a:rPr lang="en-US" sz="3400" b="1" dirty="0">
                <a:solidFill>
                  <a:srgbClr val="DEE3EA"/>
                </a:solidFill>
                <a:latin typeface="Calibri" pitchFamily="34" charset="0"/>
                <a:ea typeface="Calibri" pitchFamily="34" charset="-122"/>
                <a:cs typeface="Calibri" pitchFamily="34" charset="-120"/>
              </a:rPr>
              <a:t>How we know it works</a:t>
            </a:r>
            <a:endParaRPr lang="en-US" sz="3400" dirty="0"/>
          </a:p>
        </p:txBody>
      </p:sp>
      <p:sp>
        <p:nvSpPr>
          <p:cNvPr id="3" name="Text 1"/>
          <p:cNvSpPr txBox="1"/>
          <p:nvPr/>
        </p:nvSpPr>
        <p:spPr>
          <a:xfrm>
            <a:off x="640080" y="1737360"/>
            <a:ext cx="2743200" cy="777240"/>
          </a:xfrm>
          <a:prstGeom prst="rect">
            <a:avLst/>
          </a:prstGeom>
          <a:noFill/>
          <a:ln/>
        </p:spPr>
        <p:txBody>
          <a:bodyPr wrap="square" lIns="0" tIns="0" rIns="0" bIns="0" rtlCol="0" anchor="ctr"/>
          <a:lstStyle/>
          <a:p>
            <a:pPr algn="l" indent="0" marL="0">
              <a:buNone/>
            </a:pPr>
            <a:r>
              <a:rPr lang="en-US" sz="4600" b="1" dirty="0">
                <a:solidFill>
                  <a:srgbClr val="3B82F6"/>
                </a:solidFill>
                <a:latin typeface="Calibri" pitchFamily="34" charset="0"/>
                <a:ea typeface="Calibri" pitchFamily="34" charset="-122"/>
                <a:cs typeface="Calibri" pitchFamily="34" charset="-120"/>
              </a:rPr>
              <a:t>252</a:t>
            </a:r>
            <a:endParaRPr lang="en-US" sz="4600" dirty="0"/>
          </a:p>
        </p:txBody>
      </p:sp>
      <p:sp>
        <p:nvSpPr>
          <p:cNvPr id="4" name="Text 2"/>
          <p:cNvSpPr txBox="1"/>
          <p:nvPr/>
        </p:nvSpPr>
        <p:spPr>
          <a:xfrm>
            <a:off x="640080" y="2560320"/>
            <a:ext cx="2743200" cy="640080"/>
          </a:xfrm>
          <a:prstGeom prst="rect">
            <a:avLst/>
          </a:prstGeom>
          <a:noFill/>
          <a:ln/>
        </p:spPr>
        <p:txBody>
          <a:bodyPr wrap="square" lIns="0" tIns="0" rIns="0" bIns="0" rtlCol="0" anchor="ctr"/>
          <a:lstStyle/>
          <a:p>
            <a:pPr algn="l" indent="0" marL="0">
              <a:buNone/>
            </a:pPr>
            <a:r>
              <a:rPr lang="en-US" sz="1300" dirty="0">
                <a:solidFill>
                  <a:srgbClr val="8A95A3"/>
                </a:solidFill>
                <a:latin typeface="Calibri" pitchFamily="34" charset="0"/>
                <a:ea typeface="Calibri" pitchFamily="34" charset="-122"/>
                <a:cs typeface="Calibri" pitchFamily="34" charset="-120"/>
              </a:rPr>
              <a:t>automated tests, standard</a:t>
            </a:r>
            <a:endParaRPr lang="en-US" sz="1300" dirty="0"/>
          </a:p>
          <a:p>
            <a:pPr algn="l" indent="0" marL="0">
              <a:buNone/>
            </a:pPr>
            <a:r>
              <a:rPr lang="en-US" sz="1300" dirty="0">
                <a:solidFill>
                  <a:srgbClr val="8A95A3"/>
                </a:solidFill>
                <a:latin typeface="Calibri" pitchFamily="34" charset="0"/>
                <a:ea typeface="Calibri" pitchFamily="34" charset="-122"/>
                <a:cs typeface="Calibri" pitchFamily="34" charset="-120"/>
              </a:rPr>
              <a:t>library only</a:t>
            </a:r>
            <a:endParaRPr lang="en-US" sz="1300" dirty="0"/>
          </a:p>
        </p:txBody>
      </p:sp>
      <p:sp>
        <p:nvSpPr>
          <p:cNvPr id="5" name="Text 3"/>
          <p:cNvSpPr txBox="1"/>
          <p:nvPr/>
        </p:nvSpPr>
        <p:spPr>
          <a:xfrm>
            <a:off x="3749040" y="1737360"/>
            <a:ext cx="2743200" cy="777240"/>
          </a:xfrm>
          <a:prstGeom prst="rect">
            <a:avLst/>
          </a:prstGeom>
          <a:noFill/>
          <a:ln/>
        </p:spPr>
        <p:txBody>
          <a:bodyPr wrap="square" lIns="0" tIns="0" rIns="0" bIns="0" rtlCol="0" anchor="ctr"/>
          <a:lstStyle/>
          <a:p>
            <a:pPr algn="l" indent="0" marL="0">
              <a:buNone/>
            </a:pPr>
            <a:r>
              <a:rPr lang="en-US" sz="4600" b="1" dirty="0">
                <a:solidFill>
                  <a:srgbClr val="3B82F6"/>
                </a:solidFill>
                <a:latin typeface="Calibri" pitchFamily="34" charset="0"/>
                <a:ea typeface="Calibri" pitchFamily="34" charset="-122"/>
                <a:cs typeface="Calibri" pitchFamily="34" charset="-120"/>
              </a:rPr>
              <a:t>19</a:t>
            </a:r>
            <a:endParaRPr lang="en-US" sz="4600" dirty="0"/>
          </a:p>
        </p:txBody>
      </p:sp>
      <p:sp>
        <p:nvSpPr>
          <p:cNvPr id="6" name="Text 4"/>
          <p:cNvSpPr txBox="1"/>
          <p:nvPr/>
        </p:nvSpPr>
        <p:spPr>
          <a:xfrm>
            <a:off x="3749040" y="2560320"/>
            <a:ext cx="2743200" cy="640080"/>
          </a:xfrm>
          <a:prstGeom prst="rect">
            <a:avLst/>
          </a:prstGeom>
          <a:noFill/>
          <a:ln/>
        </p:spPr>
        <p:txBody>
          <a:bodyPr wrap="square" lIns="0" tIns="0" rIns="0" bIns="0" rtlCol="0" anchor="ctr"/>
          <a:lstStyle/>
          <a:p>
            <a:pPr algn="l" indent="0" marL="0">
              <a:buNone/>
            </a:pPr>
            <a:r>
              <a:rPr lang="en-US" sz="1300" dirty="0">
                <a:solidFill>
                  <a:srgbClr val="8A95A3"/>
                </a:solidFill>
                <a:latin typeface="Calibri" pitchFamily="34" charset="0"/>
                <a:ea typeface="Calibri" pitchFamily="34" charset="-122"/>
                <a:cs typeface="Calibri" pitchFamily="34" charset="-120"/>
              </a:rPr>
              <a:t>keywords, each tested in</a:t>
            </a:r>
            <a:endParaRPr lang="en-US" sz="1300" dirty="0"/>
          </a:p>
          <a:p>
            <a:pPr algn="l" indent="0" marL="0">
              <a:buNone/>
            </a:pPr>
            <a:r>
              <a:rPr lang="en-US" sz="1300" dirty="0">
                <a:solidFill>
                  <a:srgbClr val="8A95A3"/>
                </a:solidFill>
                <a:latin typeface="Calibri" pitchFamily="34" charset="0"/>
                <a:ea typeface="Calibri" pitchFamily="34" charset="-122"/>
                <a:cs typeface="Calibri" pitchFamily="34" charset="-120"/>
              </a:rPr>
              <a:t>its own context</a:t>
            </a:r>
            <a:endParaRPr lang="en-US" sz="1300" dirty="0"/>
          </a:p>
        </p:txBody>
      </p:sp>
      <p:sp>
        <p:nvSpPr>
          <p:cNvPr id="7" name="Text 5"/>
          <p:cNvSpPr txBox="1"/>
          <p:nvPr/>
        </p:nvSpPr>
        <p:spPr>
          <a:xfrm>
            <a:off x="6858000" y="1737360"/>
            <a:ext cx="2743200" cy="777240"/>
          </a:xfrm>
          <a:prstGeom prst="rect">
            <a:avLst/>
          </a:prstGeom>
          <a:noFill/>
          <a:ln/>
        </p:spPr>
        <p:txBody>
          <a:bodyPr wrap="square" lIns="0" tIns="0" rIns="0" bIns="0" rtlCol="0" anchor="ctr"/>
          <a:lstStyle/>
          <a:p>
            <a:pPr algn="l" indent="0" marL="0">
              <a:buNone/>
            </a:pPr>
            <a:r>
              <a:rPr lang="en-US" sz="4600" b="1" dirty="0">
                <a:solidFill>
                  <a:srgbClr val="3B82F6"/>
                </a:solidFill>
                <a:latin typeface="Calibri" pitchFamily="34" charset="0"/>
                <a:ea typeface="Calibri" pitchFamily="34" charset="-122"/>
                <a:cs typeface="Calibri" pitchFamily="34" charset="-120"/>
              </a:rPr>
              <a:t>0</a:t>
            </a:r>
            <a:endParaRPr lang="en-US" sz="4600" dirty="0"/>
          </a:p>
        </p:txBody>
      </p:sp>
      <p:sp>
        <p:nvSpPr>
          <p:cNvPr id="8" name="Text 6"/>
          <p:cNvSpPr txBox="1"/>
          <p:nvPr/>
        </p:nvSpPr>
        <p:spPr>
          <a:xfrm>
            <a:off x="6858000" y="2560320"/>
            <a:ext cx="2743200" cy="640080"/>
          </a:xfrm>
          <a:prstGeom prst="rect">
            <a:avLst/>
          </a:prstGeom>
          <a:noFill/>
          <a:ln/>
        </p:spPr>
        <p:txBody>
          <a:bodyPr wrap="square" lIns="0" tIns="0" rIns="0" bIns="0" rtlCol="0" anchor="ctr"/>
          <a:lstStyle/>
          <a:p>
            <a:pPr algn="l" indent="0" marL="0">
              <a:buNone/>
            </a:pPr>
            <a:r>
              <a:rPr lang="en-US" sz="1300" dirty="0">
                <a:solidFill>
                  <a:srgbClr val="8A95A3"/>
                </a:solidFill>
                <a:latin typeface="Calibri" pitchFamily="34" charset="0"/>
                <a:ea typeface="Calibri" pitchFamily="34" charset="-122"/>
                <a:cs typeface="Calibri" pitchFamily="34" charset="-120"/>
              </a:rPr>
              <a:t>dependencies for the</a:t>
            </a:r>
            <a:endParaRPr lang="en-US" sz="1300" dirty="0"/>
          </a:p>
          <a:p>
            <a:pPr algn="l" indent="0" marL="0">
              <a:buNone/>
            </a:pPr>
            <a:r>
              <a:rPr lang="en-US" sz="1300" dirty="0">
                <a:solidFill>
                  <a:srgbClr val="8A95A3"/>
                </a:solidFill>
                <a:latin typeface="Calibri" pitchFamily="34" charset="0"/>
                <a:ea typeface="Calibri" pitchFamily="34" charset="-122"/>
                <a:cs typeface="Calibri" pitchFamily="34" charset="-120"/>
              </a:rPr>
              <a:t>language itself</a:t>
            </a:r>
            <a:endParaRPr lang="en-US" sz="1300" dirty="0"/>
          </a:p>
        </p:txBody>
      </p:sp>
      <p:sp>
        <p:nvSpPr>
          <p:cNvPr id="9" name="Shape 7"/>
          <p:cNvSpPr/>
          <p:nvPr/>
        </p:nvSpPr>
        <p:spPr>
          <a:xfrm>
            <a:off x="640080" y="3566160"/>
            <a:ext cx="10881360" cy="2011680"/>
          </a:xfrm>
          <a:prstGeom prst="roundRect">
            <a:avLst>
              <a:gd name="adj" fmla="val 2727"/>
            </a:avLst>
          </a:prstGeom>
          <a:solidFill>
            <a:srgbClr val="141920"/>
          </a:solidFill>
          <a:ln w="9525">
            <a:solidFill>
              <a:srgbClr val="2B343F"/>
            </a:solidFill>
            <a:prstDash val="solid"/>
          </a:ln>
        </p:spPr>
      </p:sp>
      <p:sp>
        <p:nvSpPr>
          <p:cNvPr id="10" name="Text 8"/>
          <p:cNvSpPr txBox="1"/>
          <p:nvPr/>
        </p:nvSpPr>
        <p:spPr>
          <a:xfrm>
            <a:off x="960120" y="3794760"/>
            <a:ext cx="10241280" cy="365760"/>
          </a:xfrm>
          <a:prstGeom prst="rect">
            <a:avLst/>
          </a:prstGeom>
          <a:noFill/>
          <a:ln/>
        </p:spPr>
        <p:txBody>
          <a:bodyPr wrap="square" lIns="0" tIns="0" rIns="0" bIns="0" rtlCol="0" anchor="ctr"/>
          <a:lstStyle/>
          <a:p>
            <a:pPr algn="l" indent="0" marL="0">
              <a:buNone/>
            </a:pPr>
            <a:r>
              <a:rPr lang="en-US" sz="1800" b="1" dirty="0">
                <a:solidFill>
                  <a:srgbClr val="3B82F6"/>
                </a:solidFill>
                <a:latin typeface="Calibri" pitchFamily="34" charset="0"/>
                <a:ea typeface="Calibri" pitchFamily="34" charset="-122"/>
                <a:cs typeface="Calibri" pitchFamily="34" charset="-120"/>
              </a:rPr>
              <a:t>The check that made the rewrite safe</a:t>
            </a:r>
            <a:endParaRPr lang="en-US" sz="1800" dirty="0"/>
          </a:p>
        </p:txBody>
      </p:sp>
      <p:sp>
        <p:nvSpPr>
          <p:cNvPr id="11" name="Text 9"/>
          <p:cNvSpPr txBox="1"/>
          <p:nvPr/>
        </p:nvSpPr>
        <p:spPr>
          <a:xfrm>
            <a:off x="960120" y="4224528"/>
            <a:ext cx="10241280" cy="1188720"/>
          </a:xfrm>
          <a:prstGeom prst="rect">
            <a:avLst/>
          </a:prstGeom>
          <a:noFill/>
          <a:ln/>
        </p:spPr>
        <p:txBody>
          <a:bodyPr wrap="square" lIns="0" tIns="0" rIns="0" bIns="0" rtlCol="0" anchor="t"/>
          <a:lstStyle/>
          <a:p>
            <a:pPr algn="l" indent="0" marL="0">
              <a:lnSpc>
                <a:spcPct val="122000"/>
              </a:lnSpc>
              <a:buNone/>
            </a:pPr>
            <a:r>
              <a:rPr lang="en-US" sz="1350" dirty="0">
                <a:solidFill>
                  <a:srgbClr val="8A95A3"/>
                </a:solidFill>
                <a:latin typeface="Calibri" pitchFamily="34" charset="0"/>
                <a:ea typeface="Calibri" pitchFamily="34" charset="-122"/>
                <a:cs typeface="Calibri" pitchFamily="34" charset="-120"/>
              </a:rPr>
              <a:t>W++ started as a single regular-expression pass. When we replaced it with the compiler, we kept the old translator as a test oracle. Both target Python, so for any program they both accept, the two must generate Python that parses to the same tree. They agree on every one - and the check found two real bugs in the rewrite that we would otherwise have shipped.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E13"/>
        </a:solidFill>
      </p:bgPr>
    </p:bg>
    <p:spTree>
      <p:nvGrpSpPr>
        <p:cNvPr id="1" name=""/>
        <p:cNvGrpSpPr/>
        <p:nvPr/>
      </p:nvGrpSpPr>
      <p:grpSpPr>
        <a:xfrm>
          <a:off x="0" y="0"/>
          <a:ext cx="0" cy="0"/>
          <a:chOff x="0" y="0"/>
          <a:chExt cx="0" cy="0"/>
        </a:xfrm>
      </p:grpSpPr>
      <p:sp>
        <p:nvSpPr>
          <p:cNvPr id="2" name="Text 0"/>
          <p:cNvSpPr txBox="1"/>
          <p:nvPr/>
        </p:nvSpPr>
        <p:spPr>
          <a:xfrm>
            <a:off x="640080" y="1828800"/>
            <a:ext cx="5486400" cy="1005840"/>
          </a:xfrm>
          <a:prstGeom prst="rect">
            <a:avLst/>
          </a:prstGeom>
          <a:noFill/>
          <a:ln/>
        </p:spPr>
        <p:txBody>
          <a:bodyPr wrap="square" lIns="0" tIns="0" rIns="0" bIns="0" rtlCol="0" anchor="ctr"/>
          <a:lstStyle/>
          <a:p>
            <a:pPr algn="l" indent="0" marL="0">
              <a:buNone/>
            </a:pPr>
            <a:r>
              <a:rPr lang="en-US" sz="6400" b="1" dirty="0">
                <a:solidFill>
                  <a:srgbClr val="DEE3EA"/>
                </a:solidFill>
                <a:latin typeface="Calibri" pitchFamily="34" charset="0"/>
                <a:ea typeface="Calibri" pitchFamily="34" charset="-122"/>
                <a:cs typeface="Calibri" pitchFamily="34" charset="-120"/>
              </a:rPr>
              <a:t>W++</a:t>
            </a:r>
            <a:endParaRPr lang="en-US" sz="6400" dirty="0"/>
          </a:p>
        </p:txBody>
      </p:sp>
      <p:sp>
        <p:nvSpPr>
          <p:cNvPr id="3" name="Text 1"/>
          <p:cNvSpPr txBox="1"/>
          <p:nvPr/>
        </p:nvSpPr>
        <p:spPr>
          <a:xfrm>
            <a:off x="640080" y="2926080"/>
            <a:ext cx="6766560" cy="914400"/>
          </a:xfrm>
          <a:prstGeom prst="rect">
            <a:avLst/>
          </a:prstGeom>
          <a:noFill/>
          <a:ln/>
        </p:spPr>
        <p:txBody>
          <a:bodyPr wrap="square" lIns="0" tIns="0" rIns="0" bIns="0" rtlCol="0" anchor="ctr"/>
          <a:lstStyle/>
          <a:p>
            <a:pPr algn="l" indent="0" marL="0">
              <a:lnSpc>
                <a:spcPct val="125000"/>
              </a:lnSpc>
              <a:buNone/>
            </a:pPr>
            <a:r>
              <a:rPr lang="en-US" sz="1900" dirty="0">
                <a:solidFill>
                  <a:srgbClr val="8A95A3"/>
                </a:solidFill>
                <a:latin typeface="Calibri" pitchFamily="34" charset="0"/>
                <a:ea typeface="Calibri" pitchFamily="34" charset="-122"/>
                <a:cs typeface="Calibri" pitchFamily="34" charset="-120"/>
              </a:rPr>
              <a:t>A real compiler frontend, for a language whose</a:t>
            </a:r>
            <a:endParaRPr lang="en-US" sz="1900" dirty="0"/>
          </a:p>
          <a:p>
            <a:pPr algn="l" indent="0" marL="0">
              <a:lnSpc>
                <a:spcPct val="125000"/>
              </a:lnSpc>
              <a:buNone/>
            </a:pPr>
            <a:r>
              <a:rPr lang="en-US" sz="1900" dirty="0">
                <a:solidFill>
                  <a:srgbClr val="8A95A3"/>
                </a:solidFill>
                <a:latin typeface="Calibri" pitchFamily="34" charset="0"/>
                <a:ea typeface="Calibri" pitchFamily="34" charset="-122"/>
                <a:cs typeface="Calibri" pitchFamily="34" charset="-120"/>
              </a:rPr>
              <a:t>break statement is called dip.</a:t>
            </a:r>
            <a:endParaRPr lang="en-US" sz="1900" dirty="0"/>
          </a:p>
        </p:txBody>
      </p:sp>
      <p:sp>
        <p:nvSpPr>
          <p:cNvPr id="4" name="Text 2"/>
          <p:cNvSpPr txBox="1"/>
          <p:nvPr/>
        </p:nvSpPr>
        <p:spPr>
          <a:xfrm>
            <a:off x="640080" y="4206240"/>
            <a:ext cx="1188720" cy="365760"/>
          </a:xfrm>
          <a:prstGeom prst="rect">
            <a:avLst/>
          </a:prstGeom>
          <a:noFill/>
          <a:ln/>
        </p:spPr>
        <p:txBody>
          <a:bodyPr wrap="square" lIns="0" tIns="0" rIns="0" bIns="0" rtlCol="0" anchor="ctr"/>
          <a:lstStyle/>
          <a:p>
            <a:pPr algn="l" indent="0" marL="0">
              <a:buNone/>
            </a:pPr>
            <a:r>
              <a:rPr lang="en-US" sz="1400" dirty="0">
                <a:solidFill>
                  <a:srgbClr val="626D7B"/>
                </a:solidFill>
                <a:latin typeface="Calibri" pitchFamily="34" charset="0"/>
                <a:ea typeface="Calibri" pitchFamily="34" charset="-122"/>
                <a:cs typeface="Calibri" pitchFamily="34" charset="-120"/>
              </a:rPr>
              <a:t>Try it</a:t>
            </a:r>
            <a:endParaRPr lang="en-US" sz="1400" dirty="0"/>
          </a:p>
        </p:txBody>
      </p:sp>
      <p:sp>
        <p:nvSpPr>
          <p:cNvPr id="5" name="Text 3"/>
          <p:cNvSpPr txBox="1"/>
          <p:nvPr/>
        </p:nvSpPr>
        <p:spPr>
          <a:xfrm>
            <a:off x="1920240" y="4206240"/>
            <a:ext cx="6400800" cy="365760"/>
          </a:xfrm>
          <a:prstGeom prst="rect">
            <a:avLst/>
          </a:prstGeom>
          <a:noFill/>
          <a:ln/>
        </p:spPr>
        <p:txBody>
          <a:bodyPr wrap="square" lIns="0" tIns="0" rIns="0" bIns="0" rtlCol="0" anchor="ctr"/>
          <a:lstStyle/>
          <a:p>
            <a:pPr algn="l" indent="0" marL="0">
              <a:buNone/>
            </a:pPr>
            <a:r>
              <a:rPr lang="en-US" sz="1400" dirty="0">
                <a:solidFill>
                  <a:srgbClr val="3B82F6"/>
                </a:solidFill>
                <a:latin typeface="Courier New" pitchFamily="34" charset="0"/>
                <a:ea typeface="Courier New" pitchFamily="34" charset="-122"/>
                <a:cs typeface="Courier New" pitchFamily="34" charset="-120"/>
              </a:rPr>
              <a:t>wplusplus.vercel.app</a:t>
            </a:r>
            <a:endParaRPr lang="en-US" sz="1400" dirty="0"/>
          </a:p>
        </p:txBody>
      </p:sp>
      <p:sp>
        <p:nvSpPr>
          <p:cNvPr id="6" name="Text 4"/>
          <p:cNvSpPr txBox="1"/>
          <p:nvPr/>
        </p:nvSpPr>
        <p:spPr>
          <a:xfrm>
            <a:off x="640080" y="4709160"/>
            <a:ext cx="1188720" cy="365760"/>
          </a:xfrm>
          <a:prstGeom prst="rect">
            <a:avLst/>
          </a:prstGeom>
          <a:noFill/>
          <a:ln/>
        </p:spPr>
        <p:txBody>
          <a:bodyPr wrap="square" lIns="0" tIns="0" rIns="0" bIns="0" rtlCol="0" anchor="ctr"/>
          <a:lstStyle/>
          <a:p>
            <a:pPr algn="l" indent="0" marL="0">
              <a:buNone/>
            </a:pPr>
            <a:r>
              <a:rPr lang="en-US" sz="1400" dirty="0">
                <a:solidFill>
                  <a:srgbClr val="626D7B"/>
                </a:solidFill>
                <a:latin typeface="Calibri" pitchFamily="34" charset="0"/>
                <a:ea typeface="Calibri" pitchFamily="34" charset="-122"/>
                <a:cs typeface="Calibri" pitchFamily="34" charset="-120"/>
              </a:rPr>
              <a:t>Code</a:t>
            </a:r>
            <a:endParaRPr lang="en-US" sz="1400" dirty="0"/>
          </a:p>
        </p:txBody>
      </p:sp>
      <p:sp>
        <p:nvSpPr>
          <p:cNvPr id="7" name="Text 5"/>
          <p:cNvSpPr txBox="1"/>
          <p:nvPr/>
        </p:nvSpPr>
        <p:spPr>
          <a:xfrm>
            <a:off x="1920240" y="4709160"/>
            <a:ext cx="6400800" cy="365760"/>
          </a:xfrm>
          <a:prstGeom prst="rect">
            <a:avLst/>
          </a:prstGeom>
          <a:noFill/>
          <a:ln/>
        </p:spPr>
        <p:txBody>
          <a:bodyPr wrap="square" lIns="0" tIns="0" rIns="0" bIns="0" rtlCol="0" anchor="ctr"/>
          <a:lstStyle/>
          <a:p>
            <a:pPr algn="l" indent="0" marL="0">
              <a:buNone/>
            </a:pPr>
            <a:r>
              <a:rPr lang="en-US" sz="1400" dirty="0">
                <a:solidFill>
                  <a:srgbClr val="DEE3EA"/>
                </a:solidFill>
                <a:latin typeface="Courier New" pitchFamily="34" charset="0"/>
                <a:ea typeface="Courier New" pitchFamily="34" charset="-122"/>
                <a:cs typeface="Courier New" pitchFamily="34" charset="-120"/>
              </a:rPr>
              <a:t>github.com/harrynoble/wplusplus</a:t>
            </a:r>
            <a:endParaRPr lang="en-US" sz="1400" dirty="0"/>
          </a:p>
        </p:txBody>
      </p:sp>
      <p:sp>
        <p:nvSpPr>
          <p:cNvPr id="8" name="Text 6"/>
          <p:cNvSpPr txBox="1"/>
          <p:nvPr/>
        </p:nvSpPr>
        <p:spPr>
          <a:xfrm>
            <a:off x="640080" y="5212080"/>
            <a:ext cx="1188720" cy="365760"/>
          </a:xfrm>
          <a:prstGeom prst="rect">
            <a:avLst/>
          </a:prstGeom>
          <a:noFill/>
          <a:ln/>
        </p:spPr>
        <p:txBody>
          <a:bodyPr wrap="square" lIns="0" tIns="0" rIns="0" bIns="0" rtlCol="0" anchor="ctr"/>
          <a:lstStyle/>
          <a:p>
            <a:pPr algn="l" indent="0" marL="0">
              <a:buNone/>
            </a:pPr>
            <a:r>
              <a:rPr lang="en-US" sz="1400" dirty="0">
                <a:solidFill>
                  <a:srgbClr val="626D7B"/>
                </a:solidFill>
                <a:latin typeface="Calibri" pitchFamily="34" charset="0"/>
                <a:ea typeface="Calibri" pitchFamily="34" charset="-122"/>
                <a:cs typeface="Calibri" pitchFamily="34" charset="-120"/>
              </a:rPr>
              <a:t>Learn it</a:t>
            </a:r>
            <a:endParaRPr lang="en-US" sz="1400" dirty="0"/>
          </a:p>
        </p:txBody>
      </p:sp>
      <p:sp>
        <p:nvSpPr>
          <p:cNvPr id="9" name="Text 7"/>
          <p:cNvSpPr txBox="1"/>
          <p:nvPr/>
        </p:nvSpPr>
        <p:spPr>
          <a:xfrm>
            <a:off x="1920240" y="5212080"/>
            <a:ext cx="6400800" cy="365760"/>
          </a:xfrm>
          <a:prstGeom prst="rect">
            <a:avLst/>
          </a:prstGeom>
          <a:noFill/>
          <a:ln/>
        </p:spPr>
        <p:txBody>
          <a:bodyPr wrap="square" lIns="0" tIns="0" rIns="0" bIns="0" rtlCol="0" anchor="ctr"/>
          <a:lstStyle/>
          <a:p>
            <a:pPr algn="l" indent="0" marL="0">
              <a:buNone/>
            </a:pPr>
            <a:r>
              <a:rPr lang="en-US" sz="1400" dirty="0">
                <a:solidFill>
                  <a:srgbClr val="DEE3EA"/>
                </a:solidFill>
                <a:latin typeface="Courier New" pitchFamily="34" charset="0"/>
                <a:ea typeface="Courier New" pitchFamily="34" charset="-122"/>
                <a:cs typeface="Courier New" pitchFamily="34" charset="-120"/>
              </a:rPr>
              <a:t>docs/WPP_Guide.pdf - 57 pages</a:t>
            </a:r>
            <a:endParaRPr lang="en-US" sz="1400" dirty="0"/>
          </a:p>
        </p:txBody>
      </p:sp>
      <p:sp>
        <p:nvSpPr>
          <p:cNvPr id="10" name="Shape 8"/>
          <p:cNvSpPr/>
          <p:nvPr/>
        </p:nvSpPr>
        <p:spPr>
          <a:xfrm>
            <a:off x="8321040" y="2011680"/>
            <a:ext cx="3200400" cy="2377440"/>
          </a:xfrm>
          <a:prstGeom prst="roundRect">
            <a:avLst>
              <a:gd name="adj" fmla="val 2308"/>
            </a:avLst>
          </a:prstGeom>
          <a:solidFill>
            <a:srgbClr val="141920"/>
          </a:solidFill>
          <a:ln w="9525">
            <a:solidFill>
              <a:srgbClr val="2B343F"/>
            </a:solidFill>
            <a:prstDash val="solid"/>
          </a:ln>
        </p:spPr>
      </p:sp>
      <p:sp>
        <p:nvSpPr>
          <p:cNvPr id="11" name="Text 9"/>
          <p:cNvSpPr txBox="1"/>
          <p:nvPr/>
        </p:nvSpPr>
        <p:spPr>
          <a:xfrm>
            <a:off x="8549640" y="2240280"/>
            <a:ext cx="2743200" cy="1920240"/>
          </a:xfrm>
          <a:prstGeom prst="rect">
            <a:avLst/>
          </a:prstGeom>
          <a:noFill/>
          <a:ln/>
        </p:spPr>
        <p:txBody>
          <a:bodyPr wrap="square" lIns="0" tIns="0" rIns="0" bIns="0" rtlCol="0" anchor="t"/>
          <a:lstStyle/>
          <a:p>
            <a:pPr algn="l" indent="0" marL="0">
              <a:lnSpc>
                <a:spcPct val="120000"/>
              </a:lnSpc>
              <a:buNone/>
            </a:pPr>
            <a:r>
              <a:rPr lang="en-US" sz="1200" dirty="0">
                <a:solidFill>
                  <a:srgbClr val="B48EAD"/>
                </a:solidFill>
                <a:latin typeface="Courier New" pitchFamily="34" charset="0"/>
                <a:ea typeface="Courier New" pitchFamily="34" charset="-122"/>
                <a:cs typeface="Courier New" pitchFamily="34" charset="-120"/>
              </a:rPr>
              <a:t>spam</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 </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vibe</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 </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in</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 </a:t>
            </a:r>
            <a:pPr algn="l" indent="0" marL="0">
              <a:lnSpc>
                <a:spcPct val="120000"/>
              </a:lnSpc>
              <a:buNone/>
            </a:pPr>
            <a:r>
              <a:rPr lang="en-US" sz="1200" dirty="0">
                <a:solidFill>
                  <a:srgbClr val="B48EAD"/>
                </a:solidFill>
                <a:latin typeface="Courier New" pitchFamily="34" charset="0"/>
                <a:ea typeface="Courier New" pitchFamily="34" charset="-122"/>
                <a:cs typeface="Courier New" pitchFamily="34" charset="-120"/>
              </a:rPr>
              <a:t>range</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a:t>
            </a:r>
            <a:pPr algn="l" indent="0" marL="0">
              <a:lnSpc>
                <a:spcPct val="120000"/>
              </a:lnSpc>
              <a:buNone/>
            </a:pPr>
            <a:r>
              <a:rPr lang="en-US" sz="1200" dirty="0">
                <a:solidFill>
                  <a:srgbClr val="D0A67D"/>
                </a:solidFill>
                <a:latin typeface="Courier New" pitchFamily="34" charset="0"/>
                <a:ea typeface="Courier New" pitchFamily="34" charset="-122"/>
                <a:cs typeface="Courier New" pitchFamily="34" charset="-120"/>
              </a:rPr>
              <a:t>3</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a:t>
            </a:r>
            <a:pPr algn="l" indent="0" marL="0">
              <a:lnSpc>
                <a:spcPct val="120000"/>
              </a:lnSpc>
              <a:buNone/>
            </a:pPr>
            <a:endParaRPr lang="en-US" sz="1200" dirty="0"/>
          </a:p>
          <a:p>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    </a:t>
            </a:r>
            <a:pPr algn="l" indent="0" marL="0">
              <a:lnSpc>
                <a:spcPct val="120000"/>
              </a:lnSpc>
              <a:buNone/>
            </a:pPr>
            <a:r>
              <a:rPr lang="en-US" sz="1200" dirty="0">
                <a:solidFill>
                  <a:srgbClr val="B48EAD"/>
                </a:solidFill>
                <a:latin typeface="Courier New" pitchFamily="34" charset="0"/>
                <a:ea typeface="Courier New" pitchFamily="34" charset="-122"/>
                <a:cs typeface="Courier New" pitchFamily="34" charset="-120"/>
              </a:rPr>
              <a:t>yap</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a:t>
            </a:r>
            <a:pPr algn="l" indent="0" marL="0">
              <a:lnSpc>
                <a:spcPct val="120000"/>
              </a:lnSpc>
              <a:buNone/>
            </a:pPr>
            <a:r>
              <a:rPr lang="en-US" sz="1200" dirty="0">
                <a:solidFill>
                  <a:srgbClr val="97B982"/>
                </a:solidFill>
                <a:latin typeface="Courier New" pitchFamily="34" charset="0"/>
                <a:ea typeface="Courier New" pitchFamily="34" charset="-122"/>
                <a:cs typeface="Courier New" pitchFamily="34" charset="-120"/>
              </a:rPr>
              <a:t>"thank you"</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a:t>
            </a:r>
            <a:pPr algn="l" indent="0" marL="0">
              <a:lnSpc>
                <a:spcPct val="120000"/>
              </a:lnSpc>
              <a:buNone/>
            </a:pPr>
            <a:endParaRPr lang="en-US" sz="1200" dirty="0"/>
          </a:p>
          <a:p>
            <a:pPr algn="l" indent="0" marL="0">
              <a:lnSpc>
                <a:spcPct val="120000"/>
              </a:lnSpc>
              <a:buNone/>
            </a:pPr>
            <a:endParaRPr lang="en-US" sz="1200" dirty="0"/>
          </a:p>
          <a:p>
            <a:pPr algn="l" indent="0" marL="0">
              <a:lnSpc>
                <a:spcPct val="120000"/>
              </a:lnSpc>
              <a:buNone/>
            </a:pPr>
            <a:r>
              <a:rPr lang="en-US" sz="1200" dirty="0">
                <a:solidFill>
                  <a:srgbClr val="B48EAD"/>
                </a:solidFill>
                <a:latin typeface="Courier New" pitchFamily="34" charset="0"/>
                <a:ea typeface="Courier New" pitchFamily="34" charset="-122"/>
                <a:cs typeface="Courier New" pitchFamily="34" charset="-120"/>
              </a:rPr>
              <a:t>bet</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 </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questions</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a:t>
            </a:r>
            <a:pPr algn="l" indent="0" marL="0">
              <a:lnSpc>
                <a:spcPct val="120000"/>
              </a:lnSpc>
              <a:buNone/>
            </a:pPr>
            <a:endParaRPr lang="en-US" sz="1200" dirty="0"/>
          </a:p>
          <a:p>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    </a:t>
            </a:r>
            <a:pPr algn="l" indent="0" marL="0">
              <a:lnSpc>
                <a:spcPct val="120000"/>
              </a:lnSpc>
              <a:buNone/>
            </a:pPr>
            <a:r>
              <a:rPr lang="en-US" sz="1200" dirty="0">
                <a:solidFill>
                  <a:srgbClr val="B48EAD"/>
                </a:solidFill>
                <a:latin typeface="Courier New" pitchFamily="34" charset="0"/>
                <a:ea typeface="Courier New" pitchFamily="34" charset="-122"/>
                <a:cs typeface="Courier New" pitchFamily="34" charset="-120"/>
              </a:rPr>
              <a:t>spill</a:t>
            </a:r>
            <a:pPr algn="l" indent="0" marL="0">
              <a:lnSpc>
                <a:spcPct val="120000"/>
              </a:lnSpc>
              <a:buNone/>
            </a:pPr>
            <a:r>
              <a:rPr lang="en-US" sz="1200" dirty="0">
                <a:solidFill>
                  <a:srgbClr val="DEE3EA"/>
                </a:solidFill>
                <a:latin typeface="Courier New" pitchFamily="34" charset="0"/>
                <a:ea typeface="Courier New" pitchFamily="34" charset="-122"/>
                <a:cs typeface="Courier New" pitchFamily="34" charset="-120"/>
              </a:rPr>
              <a:t> </a:t>
            </a:r>
            <a:pPr algn="l" indent="0" marL="0">
              <a:lnSpc>
                <a:spcPct val="120000"/>
              </a:lnSpc>
              <a:buNone/>
            </a:pPr>
            <a:r>
              <a:rPr lang="en-US" sz="1200" dirty="0">
                <a:solidFill>
                  <a:srgbClr val="97B982"/>
                </a:solidFill>
                <a:latin typeface="Courier New" pitchFamily="34" charset="0"/>
                <a:ea typeface="Courier New" pitchFamily="34" charset="-122"/>
                <a:cs typeface="Courier New" pitchFamily="34" charset="-120"/>
              </a:rPr>
              <a:t>"ask away"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dc:title>
  <dc:subject>PptxGenJS Presentation</dc:subject>
  <dc:creator>The Mavericks</dc:creator>
  <cp:lastModifiedBy>The Mavericks</cp:lastModifiedBy>
  <cp:revision>1</cp:revision>
  <dcterms:created xsi:type="dcterms:W3CDTF">2026-09-04T02:27:33Z</dcterms:created>
  <dcterms:modified xsi:type="dcterms:W3CDTF">2026-09-04T02:27:33Z</dcterms:modified>
</cp:coreProperties>
</file>